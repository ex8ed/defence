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sldIdLst>
    <p:sldId id="271" r:id="rId5"/>
    <p:sldId id="286" r:id="rId6"/>
    <p:sldId id="272" r:id="rId7"/>
    <p:sldId id="273" r:id="rId8"/>
    <p:sldId id="274" r:id="rId9"/>
    <p:sldId id="289" r:id="rId10"/>
    <p:sldId id="275" r:id="rId11"/>
    <p:sldId id="276" r:id="rId12"/>
    <p:sldId id="287" r:id="rId13"/>
    <p:sldId id="277" r:id="rId14"/>
    <p:sldId id="298" r:id="rId15"/>
    <p:sldId id="278" r:id="rId16"/>
    <p:sldId id="279" r:id="rId17"/>
    <p:sldId id="280" r:id="rId18"/>
    <p:sldId id="294" r:id="rId19"/>
    <p:sldId id="281" r:id="rId20"/>
    <p:sldId id="290" r:id="rId21"/>
    <p:sldId id="291" r:id="rId22"/>
    <p:sldId id="297" r:id="rId23"/>
    <p:sldId id="292" r:id="rId24"/>
    <p:sldId id="295" r:id="rId25"/>
    <p:sldId id="296" r:id="rId26"/>
    <p:sldId id="282" r:id="rId27"/>
    <p:sldId id="285" r:id="rId28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56A6"/>
    <a:srgbClr val="0E2D69"/>
    <a:srgbClr val="F2F2F2"/>
    <a:srgbClr val="BFBFBF"/>
    <a:srgbClr val="234A9B"/>
    <a:srgbClr val="1656A6"/>
    <a:srgbClr val="000032"/>
    <a:srgbClr val="029C63"/>
    <a:srgbClr val="96628C"/>
    <a:srgbClr val="11A0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5"/>
    <p:restoredTop sz="94721"/>
  </p:normalViewPr>
  <p:slideViewPr>
    <p:cSldViewPr snapToGrid="0" snapToObjects="1">
      <p:cViewPr varScale="1">
        <p:scale>
          <a:sx n="108" d="100"/>
          <a:sy n="108" d="100"/>
        </p:scale>
        <p:origin x="1056" y="20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4/11/26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25392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0337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66256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4/11/26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2800" b="1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sz="54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Московский институт математики и электроники им. А. Н. Тихонова НИУ ВШЭ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Системный анализ и математические технологии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Москва 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Выполнила: Качалина Екатерина, МСМТ243</a:t>
            </a:r>
          </a:p>
          <a:p>
            <a:r>
              <a:rPr lang="ru-RU" dirty="0"/>
              <a:t>Научный руководитель: Титова Наталия Николаевна, старший преподаватель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C8FB769-56C9-C288-509C-A9798C9EA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83" y="1279733"/>
            <a:ext cx="5245560" cy="777025"/>
          </a:xfrm>
        </p:spPr>
        <p:txBody>
          <a:bodyPr/>
          <a:lstStyle/>
          <a:p>
            <a:r>
              <a:rPr lang="ru-RU" dirty="0"/>
              <a:t>План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31E8E6-F205-4E73-CEC8-79F05B2757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AutoNum type="arabicPeriod"/>
            </a:pPr>
            <a:r>
              <a:rPr lang="ru-RU" sz="1800" dirty="0"/>
              <a:t>Цели и задачи</a:t>
            </a:r>
          </a:p>
          <a:p>
            <a:pPr marL="342900" indent="-342900">
              <a:buAutoNum type="arabicPeriod"/>
            </a:pPr>
            <a:r>
              <a:rPr lang="ru-RU" sz="1800" dirty="0"/>
              <a:t>Актуальность</a:t>
            </a:r>
          </a:p>
          <a:p>
            <a:pPr marL="342900" indent="-342900">
              <a:buAutoNum type="arabicPeriod"/>
            </a:pPr>
            <a:r>
              <a:rPr lang="ru-RU" sz="1800" dirty="0"/>
              <a:t>Задачи </a:t>
            </a:r>
            <a:r>
              <a:rPr lang="en-US" sz="1800" dirty="0"/>
              <a:t>NLP </a:t>
            </a:r>
            <a:r>
              <a:rPr lang="ru-RU" sz="1800" dirty="0"/>
              <a:t>в анализе отзывов</a:t>
            </a:r>
          </a:p>
          <a:p>
            <a:pPr marL="342900" indent="-342900">
              <a:buAutoNum type="arabicPeriod"/>
            </a:pPr>
            <a:r>
              <a:rPr lang="ru-RU" sz="1800" dirty="0"/>
              <a:t>Методы предобработки текста</a:t>
            </a:r>
          </a:p>
          <a:p>
            <a:pPr marL="342900" indent="-342900">
              <a:buAutoNum type="arabicPeriod"/>
            </a:pPr>
            <a:r>
              <a:rPr lang="ru-RU" sz="1800" dirty="0"/>
              <a:t>Обзор моделей классификации</a:t>
            </a:r>
          </a:p>
          <a:p>
            <a:pPr marL="342900" indent="-342900">
              <a:buAutoNum type="arabicPeriod"/>
            </a:pPr>
            <a:r>
              <a:rPr lang="ru-RU" sz="1800" dirty="0"/>
              <a:t>Анализ данных</a:t>
            </a:r>
          </a:p>
          <a:p>
            <a:pPr marL="342900" indent="-342900">
              <a:buAutoNum type="arabicPeriod"/>
            </a:pPr>
            <a:r>
              <a:rPr lang="ru-RU" sz="1800" dirty="0"/>
              <a:t>Разметка текста</a:t>
            </a:r>
          </a:p>
          <a:p>
            <a:pPr marL="342900" indent="-342900">
              <a:buAutoNum type="arabicPeriod"/>
            </a:pPr>
            <a:r>
              <a:rPr lang="ru-RU" sz="1800" dirty="0"/>
              <a:t>Результаты обучения моделей</a:t>
            </a:r>
          </a:p>
          <a:p>
            <a:pPr marL="342900" indent="-342900">
              <a:buAutoNum type="arabicPeriod"/>
            </a:pPr>
            <a:r>
              <a:rPr lang="ru-RU" sz="1800" dirty="0"/>
              <a:t>Дальнейшие шаги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D39B2B-53B3-BD37-FCCD-782B2C07E7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EF979EE-BD1F-8917-B542-83BC5A5556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4F807E7-080C-5AF5-718A-2B16C1700D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План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869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92" y="1204876"/>
            <a:ext cx="4525852" cy="1270841"/>
          </a:xfrm>
          <a:ln>
            <a:solidFill>
              <a:srgbClr val="00003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 algn="ctr"/>
            <a:r>
              <a:rPr lang="ru-RU" sz="1800" b="1" dirty="0">
                <a:solidFill>
                  <a:srgbClr val="234A9B"/>
                </a:solidFill>
              </a:rPr>
              <a:t>Цель</a:t>
            </a:r>
            <a:r>
              <a:rPr lang="ru-RU" sz="1800" b="1" dirty="0"/>
              <a:t>: </a:t>
            </a:r>
            <a:r>
              <a:rPr lang="ru-RU" sz="1800" dirty="0"/>
              <a:t>разработка модели классификации тональности по тематическим аспектам текстовых отзывов 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0CBC2CEB-D981-43AB-8818-E5C2695AE4FC}"/>
              </a:ext>
            </a:extLst>
          </p:cNvPr>
          <p:cNvSpPr txBox="1">
            <a:spLocks/>
          </p:cNvSpPr>
          <p:nvPr/>
        </p:nvSpPr>
        <p:spPr>
          <a:xfrm>
            <a:off x="610593" y="2591738"/>
            <a:ext cx="10835984" cy="408109"/>
          </a:xfrm>
          <a:prstGeom prst="rect">
            <a:avLst/>
          </a:prstGeom>
          <a:ln>
            <a:solidFill>
              <a:srgbClr val="000032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Задачи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70C77ED-6601-1049-E0FB-0DC807D69A6C}"/>
              </a:ext>
            </a:extLst>
          </p:cNvPr>
          <p:cNvSpPr/>
          <p:nvPr/>
        </p:nvSpPr>
        <p:spPr>
          <a:xfrm>
            <a:off x="610592" y="3133976"/>
            <a:ext cx="2200771" cy="1539624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ru-RU" sz="1400" dirty="0"/>
              <a:t>Анализ предметной области: роль отзывов, ограничения NPS и готовых решений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16A21D4-7FAF-87F8-55EE-748536920E98}"/>
              </a:ext>
            </a:extLst>
          </p:cNvPr>
          <p:cNvSpPr/>
          <p:nvPr/>
        </p:nvSpPr>
        <p:spPr>
          <a:xfrm>
            <a:off x="2674904" y="4938347"/>
            <a:ext cx="2200771" cy="1539624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ru-RU" sz="1400" dirty="0"/>
              <a:t>Систематизация методов предобработки текстов, сравнение моделей классификации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039944F-8CAA-AB58-338E-1842F035E086}"/>
              </a:ext>
            </a:extLst>
          </p:cNvPr>
          <p:cNvSpPr/>
          <p:nvPr/>
        </p:nvSpPr>
        <p:spPr>
          <a:xfrm>
            <a:off x="4989369" y="3134611"/>
            <a:ext cx="2200771" cy="1539624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ru-RU" sz="1400" dirty="0"/>
              <a:t>Анализ данных и проект разметки отзывов, определение тематических аспектов качества ПВЗ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C7906FE-517A-939C-2F98-B8C9B2EAA722}"/>
              </a:ext>
            </a:extLst>
          </p:cNvPr>
          <p:cNvSpPr/>
          <p:nvPr/>
        </p:nvSpPr>
        <p:spPr>
          <a:xfrm>
            <a:off x="7190140" y="4975453"/>
            <a:ext cx="2200771" cy="1539624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ru-RU" sz="1400" dirty="0"/>
              <a:t>Вычислительные эксперименты и оценка метриками: </a:t>
            </a:r>
            <a:r>
              <a:rPr lang="ru-RU" sz="1400" dirty="0" err="1"/>
              <a:t>accuracy</a:t>
            </a:r>
            <a:r>
              <a:rPr lang="ru-RU" sz="1400" dirty="0"/>
              <a:t>, </a:t>
            </a:r>
            <a:r>
              <a:rPr lang="ru-RU" sz="1400" dirty="0" err="1"/>
              <a:t>precision</a:t>
            </a:r>
            <a:r>
              <a:rPr lang="ru-RU" sz="1400" dirty="0"/>
              <a:t>, </a:t>
            </a:r>
            <a:r>
              <a:rPr lang="ru-RU" sz="1400" dirty="0" err="1"/>
              <a:t>recall</a:t>
            </a:r>
            <a:r>
              <a:rPr lang="ru-RU" sz="1400" dirty="0"/>
              <a:t>, F1-score.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7BDF5C2-3DC9-7E17-68A2-C41BF29A439F}"/>
              </a:ext>
            </a:extLst>
          </p:cNvPr>
          <p:cNvSpPr/>
          <p:nvPr/>
        </p:nvSpPr>
        <p:spPr>
          <a:xfrm>
            <a:off x="9245806" y="3133976"/>
            <a:ext cx="2200771" cy="1539624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ru-RU" sz="1400" dirty="0"/>
              <a:t>Интерпретация результатов и формирование рекомендаций для бизнеса</a:t>
            </a:r>
          </a:p>
        </p:txBody>
      </p:sp>
      <p:cxnSp>
        <p:nvCxnSpPr>
          <p:cNvPr id="37" name="Скругленная соединительная линия 36">
            <a:extLst>
              <a:ext uri="{FF2B5EF4-FFF2-40B4-BE49-F238E27FC236}">
                <a16:creationId xmlns:a16="http://schemas.microsoft.com/office/drawing/2014/main" id="{892A56CE-AC5B-8D8A-82BB-0556E4F6E09C}"/>
              </a:ext>
            </a:extLst>
          </p:cNvPr>
          <p:cNvCxnSpPr>
            <a:cxnSpLocks/>
            <a:stCxn id="2" idx="3"/>
            <a:endCxn id="10" idx="0"/>
          </p:cNvCxnSpPr>
          <p:nvPr/>
        </p:nvCxnSpPr>
        <p:spPr>
          <a:xfrm>
            <a:off x="2811363" y="3903788"/>
            <a:ext cx="963927" cy="1034559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Скругленная соединительная линия 38">
            <a:extLst>
              <a:ext uri="{FF2B5EF4-FFF2-40B4-BE49-F238E27FC236}">
                <a16:creationId xmlns:a16="http://schemas.microsoft.com/office/drawing/2014/main" id="{E8C3BA7C-991A-EE00-E18B-EBD50A95A8E2}"/>
              </a:ext>
            </a:extLst>
          </p:cNvPr>
          <p:cNvCxnSpPr>
            <a:cxnSpLocks/>
            <a:stCxn id="10" idx="3"/>
            <a:endCxn id="11" idx="2"/>
          </p:cNvCxnSpPr>
          <p:nvPr/>
        </p:nvCxnSpPr>
        <p:spPr>
          <a:xfrm flipV="1">
            <a:off x="4875675" y="4674235"/>
            <a:ext cx="1214080" cy="103392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Скругленная соединительная линия 41">
            <a:extLst>
              <a:ext uri="{FF2B5EF4-FFF2-40B4-BE49-F238E27FC236}">
                <a16:creationId xmlns:a16="http://schemas.microsoft.com/office/drawing/2014/main" id="{B816CA4C-6E80-310F-04B7-BA721DCAC2A2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>
            <a:off x="7190140" y="3904423"/>
            <a:ext cx="1100386" cy="1071030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Скругленная соединительная линия 44">
            <a:extLst>
              <a:ext uri="{FF2B5EF4-FFF2-40B4-BE49-F238E27FC236}">
                <a16:creationId xmlns:a16="http://schemas.microsoft.com/office/drawing/2014/main" id="{32A417C5-A2C9-9FEE-5082-2FA6354AA0D9}"/>
              </a:ext>
            </a:extLst>
          </p:cNvPr>
          <p:cNvCxnSpPr>
            <a:cxnSpLocks/>
            <a:stCxn id="13" idx="3"/>
            <a:endCxn id="14" idx="2"/>
          </p:cNvCxnSpPr>
          <p:nvPr/>
        </p:nvCxnSpPr>
        <p:spPr>
          <a:xfrm flipV="1">
            <a:off x="9390911" y="4673600"/>
            <a:ext cx="955281" cy="1071665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Заголовок 2">
            <a:extLst>
              <a:ext uri="{FF2B5EF4-FFF2-40B4-BE49-F238E27FC236}">
                <a16:creationId xmlns:a16="http://schemas.microsoft.com/office/drawing/2014/main" id="{7C214AFA-EC50-8291-DDC9-4350C18F1B15}"/>
              </a:ext>
            </a:extLst>
          </p:cNvPr>
          <p:cNvSpPr txBox="1">
            <a:spLocks/>
          </p:cNvSpPr>
          <p:nvPr/>
        </p:nvSpPr>
        <p:spPr>
          <a:xfrm>
            <a:off x="6096000" y="1225612"/>
            <a:ext cx="5350577" cy="1270841"/>
          </a:xfrm>
          <a:prstGeom prst="rect">
            <a:avLst/>
          </a:prstGeom>
          <a:ln>
            <a:solidFill>
              <a:srgbClr val="00003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ru-RU" sz="1800" b="1" dirty="0">
                <a:solidFill>
                  <a:srgbClr val="234A9B"/>
                </a:solidFill>
              </a:rPr>
              <a:t>Ожидаемый результа</a:t>
            </a:r>
            <a:r>
              <a:rPr lang="ru-RU" sz="1800" b="1" dirty="0"/>
              <a:t>т:</a:t>
            </a:r>
            <a:r>
              <a:rPr lang="en-US" sz="1800" b="1" dirty="0"/>
              <a:t> </a:t>
            </a:r>
            <a:r>
              <a:rPr lang="ru-RU" sz="1800" dirty="0"/>
              <a:t>оценка тональности по каждому аспекту (чистота, скорость обслуживания, поведение сотрудника, соблюдение графика работы, невыдача заказа)</a:t>
            </a:r>
            <a:r>
              <a:rPr lang="en-US" sz="1800" dirty="0"/>
              <a:t> </a:t>
            </a:r>
            <a:r>
              <a:rPr lang="ru-RU" sz="1800" dirty="0"/>
              <a:t>для улучшения работы ПВЗ</a:t>
            </a:r>
          </a:p>
        </p:txBody>
      </p:sp>
      <p:pic>
        <p:nvPicPr>
          <p:cNvPr id="65" name="Рисунок 64" descr="Отзыв клиента контур">
            <a:extLst>
              <a:ext uri="{FF2B5EF4-FFF2-40B4-BE49-F238E27FC236}">
                <a16:creationId xmlns:a16="http://schemas.microsoft.com/office/drawing/2014/main" id="{807E60B0-E5DD-6F41-8684-E43CF96CB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2996" y="3153026"/>
            <a:ext cx="661605" cy="661605"/>
          </a:xfrm>
          <a:prstGeom prst="rect">
            <a:avLst/>
          </a:prstGeom>
        </p:spPr>
      </p:pic>
      <p:pic>
        <p:nvPicPr>
          <p:cNvPr id="67" name="Рисунок 66" descr="Жук под увеличительным стеклом контур">
            <a:extLst>
              <a:ext uri="{FF2B5EF4-FFF2-40B4-BE49-F238E27FC236}">
                <a16:creationId xmlns:a16="http://schemas.microsoft.com/office/drawing/2014/main" id="{0C4C09FD-D228-B810-492E-80DA564E71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163" y="4975453"/>
            <a:ext cx="661606" cy="661606"/>
          </a:xfrm>
          <a:prstGeom prst="rect">
            <a:avLst/>
          </a:prstGeom>
        </p:spPr>
      </p:pic>
      <p:pic>
        <p:nvPicPr>
          <p:cNvPr id="68" name="Рисунок 67" descr="Линейчатая диаграмма контур">
            <a:extLst>
              <a:ext uri="{FF2B5EF4-FFF2-40B4-BE49-F238E27FC236}">
                <a16:creationId xmlns:a16="http://schemas.microsoft.com/office/drawing/2014/main" id="{0ED7DDC9-4D47-7578-FCB8-5F05327FB9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08699" y="3098297"/>
            <a:ext cx="562110" cy="562110"/>
          </a:xfrm>
          <a:prstGeom prst="rect">
            <a:avLst/>
          </a:prstGeom>
        </p:spPr>
      </p:pic>
      <p:pic>
        <p:nvPicPr>
          <p:cNvPr id="69" name="Рисунок 68" descr="Химические вещества контур">
            <a:extLst>
              <a:ext uri="{FF2B5EF4-FFF2-40B4-BE49-F238E27FC236}">
                <a16:creationId xmlns:a16="http://schemas.microsoft.com/office/drawing/2014/main" id="{13C19F9C-7515-7F66-AD01-F08E34CBD2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59723" y="4970783"/>
            <a:ext cx="661605" cy="661605"/>
          </a:xfrm>
          <a:prstGeom prst="rect">
            <a:avLst/>
          </a:prstGeom>
        </p:spPr>
      </p:pic>
      <p:pic>
        <p:nvPicPr>
          <p:cNvPr id="70" name="Рисунок 69" descr="Завершено контур">
            <a:extLst>
              <a:ext uri="{FF2B5EF4-FFF2-40B4-BE49-F238E27FC236}">
                <a16:creationId xmlns:a16="http://schemas.microsoft.com/office/drawing/2014/main" id="{92BD4855-0C8D-F6F9-6BD5-7081E80BC1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15388" y="3048549"/>
            <a:ext cx="661605" cy="66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044AA-5F8B-4B97-BBCA-43EF6A904E34}"/>
              </a:ext>
            </a:extLst>
          </p:cNvPr>
          <p:cNvSpPr txBox="1"/>
          <p:nvPr/>
        </p:nvSpPr>
        <p:spPr>
          <a:xfrm>
            <a:off x="411163" y="2044004"/>
            <a:ext cx="4221797" cy="1200329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2254099541">
                  <a:custGeom>
                    <a:avLst/>
                    <a:gdLst>
                      <a:gd name="connsiteX0" fmla="*/ 0 w 4221797"/>
                      <a:gd name="connsiteY0" fmla="*/ 0 h 1200329"/>
                      <a:gd name="connsiteX1" fmla="*/ 4221797 w 4221797"/>
                      <a:gd name="connsiteY1" fmla="*/ 0 h 1200329"/>
                      <a:gd name="connsiteX2" fmla="*/ 4221797 w 4221797"/>
                      <a:gd name="connsiteY2" fmla="*/ 1200329 h 1200329"/>
                      <a:gd name="connsiteX3" fmla="*/ 0 w 4221797"/>
                      <a:gd name="connsiteY3" fmla="*/ 1200329 h 1200329"/>
                      <a:gd name="connsiteX4" fmla="*/ 0 w 4221797"/>
                      <a:gd name="connsiteY4" fmla="*/ 0 h 12003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21797" h="1200329" fill="none" extrusionOk="0">
                        <a:moveTo>
                          <a:pt x="0" y="0"/>
                        </a:moveTo>
                        <a:cubicBezTo>
                          <a:pt x="2080301" y="-19724"/>
                          <a:pt x="3164730" y="-160583"/>
                          <a:pt x="4221797" y="0"/>
                        </a:cubicBezTo>
                        <a:cubicBezTo>
                          <a:pt x="4180999" y="544926"/>
                          <a:pt x="4156459" y="984861"/>
                          <a:pt x="4221797" y="1200329"/>
                        </a:cubicBezTo>
                        <a:cubicBezTo>
                          <a:pt x="2936514" y="1121475"/>
                          <a:pt x="1824420" y="1319764"/>
                          <a:pt x="0" y="1200329"/>
                        </a:cubicBezTo>
                        <a:cubicBezTo>
                          <a:pt x="-73522" y="1018716"/>
                          <a:pt x="-3872" y="131627"/>
                          <a:pt x="0" y="0"/>
                        </a:cubicBezTo>
                        <a:close/>
                      </a:path>
                      <a:path w="4221797" h="1200329" stroke="0" extrusionOk="0">
                        <a:moveTo>
                          <a:pt x="0" y="0"/>
                        </a:moveTo>
                        <a:cubicBezTo>
                          <a:pt x="2053834" y="-134314"/>
                          <a:pt x="3692302" y="-83604"/>
                          <a:pt x="4221797" y="0"/>
                        </a:cubicBezTo>
                        <a:cubicBezTo>
                          <a:pt x="4130511" y="502737"/>
                          <a:pt x="4133639" y="783491"/>
                          <a:pt x="4221797" y="1200329"/>
                        </a:cubicBezTo>
                        <a:cubicBezTo>
                          <a:pt x="3713828" y="1090174"/>
                          <a:pt x="879404" y="1332438"/>
                          <a:pt x="0" y="1200329"/>
                        </a:cubicBezTo>
                        <a:cubicBezTo>
                          <a:pt x="53755" y="639131"/>
                          <a:pt x="-88509" y="45879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b="1" dirty="0">
                <a:solidFill>
                  <a:srgbClr val="234A9B"/>
                </a:solidFill>
              </a:rPr>
              <a:t>32% — прекращают сотрудничество</a:t>
            </a:r>
          </a:p>
          <a:p>
            <a:r>
              <a:rPr lang="ru-RU" dirty="0"/>
              <a:t>Одна негативная точка контакта может привести к потере клиента или партнёра.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A9E505-3277-43C3-99F7-892BCA9C9889}"/>
              </a:ext>
            </a:extLst>
          </p:cNvPr>
          <p:cNvSpPr txBox="1"/>
          <p:nvPr/>
        </p:nvSpPr>
        <p:spPr>
          <a:xfrm>
            <a:off x="411161" y="3613668"/>
            <a:ext cx="4221797" cy="923330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3681028756">
                  <a:custGeom>
                    <a:avLst/>
                    <a:gdLst>
                      <a:gd name="connsiteX0" fmla="*/ 0 w 4221797"/>
                      <a:gd name="connsiteY0" fmla="*/ 0 h 923330"/>
                      <a:gd name="connsiteX1" fmla="*/ 4221797 w 4221797"/>
                      <a:gd name="connsiteY1" fmla="*/ 0 h 923330"/>
                      <a:gd name="connsiteX2" fmla="*/ 4221797 w 4221797"/>
                      <a:gd name="connsiteY2" fmla="*/ 923330 h 923330"/>
                      <a:gd name="connsiteX3" fmla="*/ 0 w 4221797"/>
                      <a:gd name="connsiteY3" fmla="*/ 923330 h 923330"/>
                      <a:gd name="connsiteX4" fmla="*/ 0 w 4221797"/>
                      <a:gd name="connsiteY4" fmla="*/ 0 h 9233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21797" h="923330" fill="none" extrusionOk="0">
                        <a:moveTo>
                          <a:pt x="0" y="0"/>
                        </a:moveTo>
                        <a:cubicBezTo>
                          <a:pt x="765306" y="-117457"/>
                          <a:pt x="2496070" y="-46365"/>
                          <a:pt x="4221797" y="0"/>
                        </a:cubicBezTo>
                        <a:cubicBezTo>
                          <a:pt x="4288016" y="373015"/>
                          <a:pt x="4255619" y="704455"/>
                          <a:pt x="4221797" y="923330"/>
                        </a:cubicBezTo>
                        <a:cubicBezTo>
                          <a:pt x="3743438" y="763398"/>
                          <a:pt x="805543" y="964503"/>
                          <a:pt x="0" y="923330"/>
                        </a:cubicBezTo>
                        <a:cubicBezTo>
                          <a:pt x="19151" y="548470"/>
                          <a:pt x="-58146" y="347853"/>
                          <a:pt x="0" y="0"/>
                        </a:cubicBezTo>
                        <a:close/>
                      </a:path>
                      <a:path w="4221797" h="923330" stroke="0" extrusionOk="0">
                        <a:moveTo>
                          <a:pt x="0" y="0"/>
                        </a:moveTo>
                        <a:cubicBezTo>
                          <a:pt x="661571" y="85795"/>
                          <a:pt x="2284020" y="-139732"/>
                          <a:pt x="4221797" y="0"/>
                        </a:cubicBezTo>
                        <a:cubicBezTo>
                          <a:pt x="4231691" y="346824"/>
                          <a:pt x="4164852" y="535491"/>
                          <a:pt x="4221797" y="923330"/>
                        </a:cubicBezTo>
                        <a:cubicBezTo>
                          <a:pt x="2635692" y="1048728"/>
                          <a:pt x="1816973" y="858702"/>
                          <a:pt x="0" y="923330"/>
                        </a:cubicBezTo>
                        <a:cubicBezTo>
                          <a:pt x="78164" y="511919"/>
                          <a:pt x="64447" y="31175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b="1" dirty="0">
                <a:solidFill>
                  <a:srgbClr val="234A9B"/>
                </a:solidFill>
              </a:rPr>
              <a:t>95% читают отзывы</a:t>
            </a:r>
          </a:p>
          <a:p>
            <a:r>
              <a:rPr lang="ru-RU" dirty="0"/>
              <a:t>Отзывы — первичный источник доверия при выборе продавца или сервиса.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EE2EAA-DDFE-42FB-A04E-8029E6E20720}"/>
              </a:ext>
            </a:extLst>
          </p:cNvPr>
          <p:cNvSpPr txBox="1"/>
          <p:nvPr/>
        </p:nvSpPr>
        <p:spPr>
          <a:xfrm>
            <a:off x="411160" y="4805150"/>
            <a:ext cx="4221799" cy="923330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2966935871">
                  <a:custGeom>
                    <a:avLst/>
                    <a:gdLst>
                      <a:gd name="connsiteX0" fmla="*/ 0 w 4221799"/>
                      <a:gd name="connsiteY0" fmla="*/ 0 h 923330"/>
                      <a:gd name="connsiteX1" fmla="*/ 4221799 w 4221799"/>
                      <a:gd name="connsiteY1" fmla="*/ 0 h 923330"/>
                      <a:gd name="connsiteX2" fmla="*/ 4221799 w 4221799"/>
                      <a:gd name="connsiteY2" fmla="*/ 923330 h 923330"/>
                      <a:gd name="connsiteX3" fmla="*/ 0 w 4221799"/>
                      <a:gd name="connsiteY3" fmla="*/ 923330 h 923330"/>
                      <a:gd name="connsiteX4" fmla="*/ 0 w 4221799"/>
                      <a:gd name="connsiteY4" fmla="*/ 0 h 9233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21799" h="923330" fill="none" extrusionOk="0">
                        <a:moveTo>
                          <a:pt x="0" y="0"/>
                        </a:moveTo>
                        <a:cubicBezTo>
                          <a:pt x="704767" y="39310"/>
                          <a:pt x="3555772" y="78388"/>
                          <a:pt x="4221799" y="0"/>
                        </a:cubicBezTo>
                        <a:cubicBezTo>
                          <a:pt x="4174646" y="344694"/>
                          <a:pt x="4288997" y="605660"/>
                          <a:pt x="4221799" y="923330"/>
                        </a:cubicBezTo>
                        <a:cubicBezTo>
                          <a:pt x="2518495" y="821573"/>
                          <a:pt x="1540020" y="911650"/>
                          <a:pt x="0" y="923330"/>
                        </a:cubicBezTo>
                        <a:cubicBezTo>
                          <a:pt x="55257" y="672955"/>
                          <a:pt x="-35776" y="344650"/>
                          <a:pt x="0" y="0"/>
                        </a:cubicBezTo>
                        <a:close/>
                      </a:path>
                      <a:path w="4221799" h="923330" stroke="0" extrusionOk="0">
                        <a:moveTo>
                          <a:pt x="0" y="0"/>
                        </a:moveTo>
                        <a:cubicBezTo>
                          <a:pt x="444731" y="66338"/>
                          <a:pt x="2864463" y="58711"/>
                          <a:pt x="4221799" y="0"/>
                        </a:cubicBezTo>
                        <a:cubicBezTo>
                          <a:pt x="4266865" y="168969"/>
                          <a:pt x="4303588" y="501820"/>
                          <a:pt x="4221799" y="923330"/>
                        </a:cubicBezTo>
                        <a:cubicBezTo>
                          <a:pt x="3480333" y="810690"/>
                          <a:pt x="1704866" y="1064310"/>
                          <a:pt x="0" y="923330"/>
                        </a:cubicBezTo>
                        <a:cubicBezTo>
                          <a:pt x="-2360" y="675894"/>
                          <a:pt x="-35437" y="40479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b="1" dirty="0">
                <a:solidFill>
                  <a:srgbClr val="234A9B"/>
                </a:solidFill>
              </a:rPr>
              <a:t>86% отказываются от покупки</a:t>
            </a:r>
          </a:p>
          <a:p>
            <a:r>
              <a:rPr lang="ru-RU" dirty="0"/>
              <a:t>Негативный опыт в отзывах непосредственно снижает конверсию.</a:t>
            </a:r>
          </a:p>
        </p:txBody>
      </p:sp>
      <p:pic>
        <p:nvPicPr>
          <p:cNvPr id="13" name="Рисунок 12" descr="зависимость продаж от рейтинга">
            <a:extLst>
              <a:ext uri="{FF2B5EF4-FFF2-40B4-BE49-F238E27FC236}">
                <a16:creationId xmlns:a16="http://schemas.microsoft.com/office/drawing/2014/main" id="{48F6BF65-644E-48DA-A500-FF91F1086EA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320" y="1474657"/>
            <a:ext cx="6095999" cy="390868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1B670D9-389D-40F5-AA46-2B25F72F85BC}"/>
              </a:ext>
            </a:extLst>
          </p:cNvPr>
          <p:cNvSpPr txBox="1"/>
          <p:nvPr/>
        </p:nvSpPr>
        <p:spPr>
          <a:xfrm>
            <a:off x="5760718" y="5251789"/>
            <a:ext cx="51816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Текстовые отзывы </a:t>
            </a:r>
            <a:r>
              <a:rPr lang="ru-RU" dirty="0"/>
              <a:t>- это инструмент удержания клиентов и системного улучшения продукта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298635"/>
            <a:ext cx="11057955" cy="777025"/>
          </a:xfrm>
        </p:spPr>
        <p:txBody>
          <a:bodyPr/>
          <a:lstStyle/>
          <a:p>
            <a:r>
              <a:rPr lang="ru-RU" b="1" dirty="0"/>
              <a:t>Актуальность. </a:t>
            </a:r>
            <a:r>
              <a:rPr lang="ru-RU" b="1" dirty="0">
                <a:solidFill>
                  <a:srgbClr val="1656A6"/>
                </a:solidFill>
              </a:rPr>
              <a:t>Почему отзывы критичны для бизнеса?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4C501A9E-88C5-4F47-BC96-8A1F117A6538}"/>
              </a:ext>
            </a:extLst>
          </p:cNvPr>
          <p:cNvSpPr/>
          <p:nvPr/>
        </p:nvSpPr>
        <p:spPr>
          <a:xfrm>
            <a:off x="5194934" y="5383342"/>
            <a:ext cx="375285" cy="339278"/>
          </a:xfrm>
          <a:prstGeom prst="ellipse">
            <a:avLst/>
          </a:prstGeom>
          <a:ln>
            <a:solidFill>
              <a:srgbClr val="0E2D6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A33D5D5-13C7-8644-8CD8-A04CCCE736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8095CB-94DB-754D-A4ED-35EBDDB3F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732" y="1021235"/>
            <a:ext cx="10714699" cy="777025"/>
          </a:xfrm>
        </p:spPr>
        <p:txBody>
          <a:bodyPr/>
          <a:lstStyle/>
          <a:p>
            <a:r>
              <a:rPr lang="ru-RU" b="1" dirty="0"/>
              <a:t>Обзор существующих решений на рынке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622317-DCC7-F945-8031-3E7F389B98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229" y="4224068"/>
            <a:ext cx="10552035" cy="2385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1800" b="1" dirty="0"/>
              <a:t>Почему готовые решения не подходят для решения задачи?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34A9B"/>
                </a:solidFill>
              </a:rPr>
              <a:t>Риски утечек данных </a:t>
            </a:r>
            <a:r>
              <a:rPr lang="ru-RU" sz="1600" dirty="0"/>
              <a:t>— инцидент с </a:t>
            </a:r>
            <a:r>
              <a:rPr lang="en" sz="1600" dirty="0" err="1"/>
              <a:t>Mixpanel</a:t>
            </a:r>
            <a:r>
              <a:rPr lang="en" sz="1600" dirty="0"/>
              <a:t> (2025): </a:t>
            </a:r>
            <a:r>
              <a:rPr lang="ru-RU" sz="1600" dirty="0"/>
              <a:t>доступ к данным </a:t>
            </a:r>
            <a:r>
              <a:rPr lang="en" sz="1600" dirty="0" err="1"/>
              <a:t>OpenAI</a:t>
            </a:r>
            <a:r>
              <a:rPr lang="en" sz="1600" dirty="0"/>
              <a:t> </a:t>
            </a:r>
            <a:r>
              <a:rPr lang="ru-RU" sz="1600" dirty="0"/>
              <a:t>и других клиентов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Использование отзывов для обучения </a:t>
            </a:r>
            <a:r>
              <a:rPr lang="en" sz="1600" dirty="0"/>
              <a:t>LLM — </a:t>
            </a:r>
            <a:r>
              <a:rPr lang="ru-RU" sz="1600" b="1" dirty="0">
                <a:solidFill>
                  <a:srgbClr val="234A9B"/>
                </a:solidFill>
              </a:rPr>
              <a:t>нарушение политики конфиденциальности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34A9B"/>
                </a:solidFill>
              </a:rPr>
              <a:t>Зависимость от вендора </a:t>
            </a:r>
            <a:r>
              <a:rPr lang="ru-RU" sz="1600" dirty="0"/>
              <a:t>— дополнительные затраты на доработки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Отсутствие кастомизации под </a:t>
            </a:r>
            <a:r>
              <a:rPr lang="ru-RU" sz="1600" b="1" dirty="0">
                <a:solidFill>
                  <a:srgbClr val="234A9B"/>
                </a:solidFill>
              </a:rPr>
              <a:t>конкретные стандарты качества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1600" dirty="0"/>
              <a:t>       необходима собственная модель с контролируемой разметкой и локальным развёртыванием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FE4DD9E-D443-AF4F-A072-F5C4D494A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graphicFrame>
        <p:nvGraphicFramePr>
          <p:cNvPr id="9" name="Таблица 9">
            <a:extLst>
              <a:ext uri="{FF2B5EF4-FFF2-40B4-BE49-F238E27FC236}">
                <a16:creationId xmlns:a16="http://schemas.microsoft.com/office/drawing/2014/main" id="{C1C87232-F388-18DA-0E25-A8FB2B44D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823630"/>
              </p:ext>
            </p:extLst>
          </p:nvPr>
        </p:nvGraphicFramePr>
        <p:xfrm>
          <a:off x="667229" y="1409748"/>
          <a:ext cx="10552033" cy="28143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26824">
                  <a:extLst>
                    <a:ext uri="{9D8B030D-6E8A-4147-A177-3AD203B41FA5}">
                      <a16:colId xmlns:a16="http://schemas.microsoft.com/office/drawing/2014/main" val="3676543880"/>
                    </a:ext>
                  </a:extLst>
                </a:gridCol>
                <a:gridCol w="3646583">
                  <a:extLst>
                    <a:ext uri="{9D8B030D-6E8A-4147-A177-3AD203B41FA5}">
                      <a16:colId xmlns:a16="http://schemas.microsoft.com/office/drawing/2014/main" val="881502666"/>
                    </a:ext>
                  </a:extLst>
                </a:gridCol>
                <a:gridCol w="5578626">
                  <a:extLst>
                    <a:ext uri="{9D8B030D-6E8A-4147-A177-3AD203B41FA5}">
                      <a16:colId xmlns:a16="http://schemas.microsoft.com/office/drawing/2014/main" val="2497035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Решение</a:t>
                      </a:r>
                    </a:p>
                  </a:txBody>
                  <a:tcPr anchor="ctr"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Ключевая специализация</a:t>
                      </a:r>
                    </a:p>
                  </a:txBody>
                  <a:tcPr anchor="ctr"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Используемые технологии</a:t>
                      </a:r>
                    </a:p>
                  </a:txBody>
                  <a:tcPr anchor="ctr">
                    <a:solidFill>
                      <a:srgbClr val="155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95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sz="1400" dirty="0"/>
                        <a:t>Brand Analytics </a:t>
                      </a:r>
                      <a:endParaRPr lang="ru-RU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Соцмедиа, тональность, 300+ источников </a:t>
                      </a:r>
                      <a:endParaRPr lang="ru-RU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LLM-</a:t>
                      </a:r>
                      <a:r>
                        <a:rPr lang="ru-RU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модели (собственные), </a:t>
                      </a:r>
                      <a:r>
                        <a:rPr lang="en" sz="14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BrandGPT</a:t>
                      </a:r>
                      <a:r>
                        <a:rPr lang="en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ru-RU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на базе генеративных </a:t>
                      </a:r>
                      <a:r>
                        <a:rPr lang="en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LLM, Smart Boost (</a:t>
                      </a:r>
                      <a:r>
                        <a:rPr lang="ru-RU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ИИ-тегирование и анализ комментариев)</a:t>
                      </a:r>
                      <a:endParaRPr lang="ru-RU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782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sz="1400" dirty="0" err="1"/>
                        <a:t>YouScan</a:t>
                      </a:r>
                      <a:endParaRPr lang="ru-RU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ИИ + визуальный анализ (логотипы, фото) </a:t>
                      </a:r>
                      <a:endParaRPr lang="ru-RU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ML-</a:t>
                      </a:r>
                      <a:r>
                        <a:rPr lang="ru-RU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алгоритмы (точность 90-95%), </a:t>
                      </a:r>
                      <a:r>
                        <a:rPr lang="en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Insights Copilot (AI-</a:t>
                      </a:r>
                      <a:r>
                        <a:rPr lang="ru-RU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агент), нейросети для распознавания изображений (логотипы, сцены, объекты)</a:t>
                      </a:r>
                      <a:endParaRPr lang="ru-RU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9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sz="1400" dirty="0" err="1"/>
                        <a:t>Wobot</a:t>
                      </a:r>
                      <a:endParaRPr lang="ru-RU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Мессенджеры и маркетплейсы (</a:t>
                      </a:r>
                      <a:r>
                        <a:rPr lang="en" sz="1400" dirty="0"/>
                        <a:t>Ozon, 2</a:t>
                      </a:r>
                      <a:r>
                        <a:rPr lang="ru-RU" sz="1400" dirty="0"/>
                        <a:t>ГИС)</a:t>
                      </a:r>
                      <a:endParaRPr lang="ru-RU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Собственная поисковая машина, алгоритмы сентимент-анализа (положит./</a:t>
                      </a:r>
                      <a:r>
                        <a:rPr lang="ru-RU" sz="14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отрицат</a:t>
                      </a:r>
                      <a:r>
                        <a:rPr lang="ru-RU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./нейтральная), определение эмоций</a:t>
                      </a:r>
                      <a:endParaRPr lang="ru-RU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65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sz="1400" dirty="0"/>
                        <a:t>Cackle</a:t>
                      </a:r>
                      <a:endParaRPr lang="ru-RU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400" dirty="0"/>
                        <a:t>40+ </a:t>
                      </a:r>
                      <a:r>
                        <a:rPr lang="ru-RU" sz="1400" dirty="0" err="1"/>
                        <a:t>отзовиков</a:t>
                      </a:r>
                      <a:r>
                        <a:rPr lang="ru-RU" sz="1400" dirty="0"/>
                        <a:t> + виджеты на сайт </a:t>
                      </a:r>
                      <a:endParaRPr lang="ru-RU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Информация о моделях не раскрыта публично</a:t>
                      </a:r>
                      <a:endParaRPr lang="ru-RU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107392"/>
                  </a:ext>
                </a:extLst>
              </a:tr>
              <a:tr h="421317">
                <a:tc>
                  <a:txBody>
                    <a:bodyPr/>
                    <a:lstStyle/>
                    <a:p>
                      <a:r>
                        <a:rPr lang="ru-RU" sz="1400" dirty="0"/>
                        <a:t>«Слухи» (</a:t>
                      </a:r>
                      <a:r>
                        <a:rPr lang="en" sz="1400" dirty="0" err="1"/>
                        <a:t>eLama</a:t>
                      </a:r>
                      <a:r>
                        <a:rPr lang="en" sz="1400" dirty="0"/>
                        <a:t>) </a:t>
                      </a:r>
                      <a:endParaRPr lang="ru-RU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Бесплатный мониторинг (базовая аналитика) </a:t>
                      </a:r>
                      <a:endParaRPr lang="ru-RU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Информация о моделях не раскрыта публично</a:t>
                      </a:r>
                      <a:endParaRPr lang="ru-RU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731217"/>
                  </a:ext>
                </a:extLst>
              </a:tr>
            </a:tbl>
          </a:graphicData>
        </a:graphic>
      </p:graphicFrame>
      <p:sp>
        <p:nvSpPr>
          <p:cNvPr id="10" name="Стрелка вправо 9">
            <a:extLst>
              <a:ext uri="{FF2B5EF4-FFF2-40B4-BE49-F238E27FC236}">
                <a16:creationId xmlns:a16="http://schemas.microsoft.com/office/drawing/2014/main" id="{46D24D20-61D6-F447-8D8A-41B2E1816645}"/>
              </a:ext>
            </a:extLst>
          </p:cNvPr>
          <p:cNvSpPr/>
          <p:nvPr/>
        </p:nvSpPr>
        <p:spPr>
          <a:xfrm>
            <a:off x="656732" y="6228202"/>
            <a:ext cx="264160" cy="1828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383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C00D5B8-41BD-66F7-3338-247D9C1F25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BEFAAF-24B0-FBD2-1B8A-2A162EB85C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B948060-EE52-6596-2A0B-A64AB39B2A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5AADEA-4781-E241-BB67-585A6AE110C2}"/>
              </a:ext>
            </a:extLst>
          </p:cNvPr>
          <p:cNvSpPr txBox="1"/>
          <p:nvPr/>
        </p:nvSpPr>
        <p:spPr>
          <a:xfrm>
            <a:off x="673723" y="1259175"/>
            <a:ext cx="6100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Возможные цели бизнеса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F805DA7-2328-2595-4646-654E585A10C8}"/>
              </a:ext>
            </a:extLst>
          </p:cNvPr>
          <p:cNvSpPr/>
          <p:nvPr/>
        </p:nvSpPr>
        <p:spPr>
          <a:xfrm>
            <a:off x="673722" y="1797270"/>
            <a:ext cx="6704539" cy="961697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b="1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Контроль стандартов качества ПВЗ</a:t>
            </a:r>
            <a:endParaRPr lang="ru-RU" b="0" i="0" u="none" strike="noStrike" dirty="0">
              <a:solidFill>
                <a:srgbClr val="0E2D69"/>
              </a:solidFill>
              <a:effectLst/>
              <a:cs typeface="Arial" panose="020B0604020202020204" pitchFamily="34" charset="0"/>
            </a:endParaRPr>
          </a:p>
          <a:p>
            <a:pPr algn="l"/>
            <a:r>
              <a:rPr lang="ru-RU" b="0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🔴 Сложность: готовые решения не выделяют аспекты</a:t>
            </a:r>
          </a:p>
          <a:p>
            <a:pPr algn="l"/>
            <a:r>
              <a:rPr lang="ru-RU" b="0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🟢 Решение: аспектная классификация тональности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879EE37-E262-C146-ADA2-9CAD3D6F52E5}"/>
              </a:ext>
            </a:extLst>
          </p:cNvPr>
          <p:cNvSpPr/>
          <p:nvPr/>
        </p:nvSpPr>
        <p:spPr>
          <a:xfrm>
            <a:off x="673723" y="2979676"/>
            <a:ext cx="6704538" cy="961697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b="1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Безопасность данных клиентов</a:t>
            </a:r>
            <a:endParaRPr lang="ru-RU" b="0" i="0" u="none" strike="noStrike" dirty="0">
              <a:solidFill>
                <a:srgbClr val="0E2D69"/>
              </a:solidFill>
              <a:effectLst/>
              <a:cs typeface="Arial" panose="020B0604020202020204" pitchFamily="34" charset="0"/>
            </a:endParaRPr>
          </a:p>
          <a:p>
            <a:pPr algn="l"/>
            <a:r>
              <a:rPr lang="ru-RU" b="0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🔴 Сложность: риск утечек через сторонние </a:t>
            </a:r>
            <a:r>
              <a:rPr lang="en" b="0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API</a:t>
            </a:r>
          </a:p>
          <a:p>
            <a:pPr algn="l"/>
            <a:r>
              <a:rPr lang="ru-RU" b="0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🟢 Решение: локальное развёртывание модели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1F713E9-A653-92C3-E999-7411F90E2292}"/>
              </a:ext>
            </a:extLst>
          </p:cNvPr>
          <p:cNvSpPr/>
          <p:nvPr/>
        </p:nvSpPr>
        <p:spPr>
          <a:xfrm>
            <a:off x="673723" y="5443880"/>
            <a:ext cx="6704536" cy="961697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b="1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Независимость и кастомизация</a:t>
            </a:r>
            <a:endParaRPr lang="ru-RU" b="0" i="0" u="none" strike="noStrike" dirty="0">
              <a:solidFill>
                <a:srgbClr val="0E2D69"/>
              </a:solidFill>
              <a:effectLst/>
              <a:cs typeface="Arial" panose="020B0604020202020204" pitchFamily="34" charset="0"/>
            </a:endParaRPr>
          </a:p>
          <a:p>
            <a:pPr algn="l"/>
            <a:r>
              <a:rPr lang="ru-RU" b="0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🔴 Сложность: зависимость от вендора</a:t>
            </a:r>
          </a:p>
          <a:p>
            <a:pPr algn="l"/>
            <a:r>
              <a:rPr lang="ru-RU" b="0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🟢 Решение: собственная модель с </a:t>
            </a:r>
            <a:r>
              <a:rPr lang="ru-RU" b="0" i="0" u="none" strike="noStrike" dirty="0" err="1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дообучением</a:t>
            </a:r>
            <a:endParaRPr lang="ru-RU" b="0" i="0" u="none" strike="noStrike" dirty="0">
              <a:solidFill>
                <a:srgbClr val="0E2D69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13E37B7-C8E6-295C-4610-F3DE484495BC}"/>
              </a:ext>
            </a:extLst>
          </p:cNvPr>
          <p:cNvSpPr/>
          <p:nvPr/>
        </p:nvSpPr>
        <p:spPr>
          <a:xfrm>
            <a:off x="673722" y="4211778"/>
            <a:ext cx="6704537" cy="961697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b="1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Понимание «что именно не так»</a:t>
            </a:r>
            <a:endParaRPr lang="ru-RU" b="0" i="0" u="none" strike="noStrike" dirty="0">
              <a:solidFill>
                <a:srgbClr val="0E2D69"/>
              </a:solidFill>
              <a:effectLst/>
              <a:cs typeface="Arial" panose="020B0604020202020204" pitchFamily="34" charset="0"/>
            </a:endParaRPr>
          </a:p>
          <a:p>
            <a:pPr algn="l"/>
            <a:r>
              <a:rPr lang="ru-RU" b="0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🔴 Сложность: </a:t>
            </a:r>
            <a:r>
              <a:rPr lang="en" b="0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NPS </a:t>
            </a:r>
            <a:r>
              <a:rPr lang="ru-RU" b="0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не </a:t>
            </a:r>
            <a:r>
              <a:rPr lang="ru-RU" b="0" i="0" u="none" strike="noStrike" dirty="0" err="1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диагностичен</a:t>
            </a:r>
            <a:endParaRPr lang="ru-RU" b="0" i="0" u="none" strike="noStrike" dirty="0">
              <a:solidFill>
                <a:srgbClr val="0E2D69"/>
              </a:solidFill>
              <a:effectLst/>
              <a:cs typeface="Arial" panose="020B0604020202020204" pitchFamily="34" charset="0"/>
            </a:endParaRPr>
          </a:p>
          <a:p>
            <a:pPr algn="l"/>
            <a:r>
              <a:rPr lang="ru-RU" b="0" i="0" u="none" strike="noStrike" dirty="0">
                <a:solidFill>
                  <a:srgbClr val="0E2D69"/>
                </a:solidFill>
                <a:effectLst/>
                <a:cs typeface="Arial" panose="020B0604020202020204" pitchFamily="34" charset="0"/>
              </a:rPr>
              <a:t>🟢 Решение: оценка по каждому аспекту</a:t>
            </a:r>
          </a:p>
        </p:txBody>
      </p:sp>
    </p:spTree>
    <p:extLst>
      <p:ext uri="{BB962C8B-B14F-4D97-AF65-F5344CB8AC3E}">
        <p14:creationId xmlns:p14="http://schemas.microsoft.com/office/powerpoint/2010/main" val="2388442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686AF3F-C863-864E-AFDC-D574F8060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A1EC68-7619-8F49-AEC3-176ECF1F6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23B065-0902-0141-A245-63D5DCF436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Задачи </a:t>
            </a:r>
            <a:r>
              <a:rPr lang="en-US" sz="1000" dirty="0"/>
              <a:t>NLP </a:t>
            </a:r>
            <a:r>
              <a:rPr lang="ru-RU" sz="1000" dirty="0"/>
              <a:t>в анализе отзывов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872CBB7-AE1B-9D40-A298-6BDF023A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709" y="1176639"/>
            <a:ext cx="4322530" cy="777025"/>
          </a:xfrm>
        </p:spPr>
        <p:txBody>
          <a:bodyPr/>
          <a:lstStyle/>
          <a:p>
            <a:r>
              <a:rPr lang="ru-RU" b="1" dirty="0"/>
              <a:t>Задачи </a:t>
            </a:r>
            <a:r>
              <a:rPr lang="en-US" b="1" dirty="0"/>
              <a:t>NLP </a:t>
            </a:r>
            <a:r>
              <a:rPr lang="en-US" b="1" dirty="0" err="1"/>
              <a:t>в</a:t>
            </a:r>
            <a:r>
              <a:rPr lang="ru-RU" b="1" dirty="0"/>
              <a:t> анализе отзывов</a:t>
            </a:r>
          </a:p>
        </p:txBody>
      </p:sp>
      <p:graphicFrame>
        <p:nvGraphicFramePr>
          <p:cNvPr id="8" name="Таблица 9">
            <a:extLst>
              <a:ext uri="{FF2B5EF4-FFF2-40B4-BE49-F238E27FC236}">
                <a16:creationId xmlns:a16="http://schemas.microsoft.com/office/drawing/2014/main" id="{A7FC9DE3-6318-AC10-1DC8-144D8C625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949803"/>
              </p:ext>
            </p:extLst>
          </p:nvPr>
        </p:nvGraphicFramePr>
        <p:xfrm>
          <a:off x="611709" y="1574800"/>
          <a:ext cx="9835108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9767">
                  <a:extLst>
                    <a:ext uri="{9D8B030D-6E8A-4147-A177-3AD203B41FA5}">
                      <a16:colId xmlns:a16="http://schemas.microsoft.com/office/drawing/2014/main" val="373861178"/>
                    </a:ext>
                  </a:extLst>
                </a:gridCol>
                <a:gridCol w="7165341">
                  <a:extLst>
                    <a:ext uri="{9D8B030D-6E8A-4147-A177-3AD203B41FA5}">
                      <a16:colId xmlns:a16="http://schemas.microsoft.com/office/drawing/2014/main" val="4063087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Задача</a:t>
                      </a:r>
                    </a:p>
                  </a:txBody>
                  <a:tcPr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Суть</a:t>
                      </a:r>
                    </a:p>
                  </a:txBody>
                  <a:tcPr>
                    <a:solidFill>
                      <a:srgbClr val="155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365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Сентимент-анализ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Определение тональности (позитив / негатив / нейтрально)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8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Аспектный анализ (</a:t>
                      </a:r>
                      <a:r>
                        <a:rPr lang="en" dirty="0"/>
                        <a:t>ABSA)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Выделение аспектов + тональность по каждому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542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Классификация по темам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Отнесение отзыва к категории проблемы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437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dirty="0"/>
                        <a:t>NER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Извлечение сущностей (сотрудники, адреса, даты)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71342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AD310A8-6B55-722D-2653-423D81FF6887}"/>
              </a:ext>
            </a:extLst>
          </p:cNvPr>
          <p:cNvSpPr txBox="1"/>
          <p:nvPr/>
        </p:nvSpPr>
        <p:spPr>
          <a:xfrm>
            <a:off x="858452" y="36424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34A9B"/>
                </a:solidFill>
              </a:rPr>
              <a:t>Подход в ВКР: </a:t>
            </a:r>
            <a:r>
              <a:rPr lang="ru-RU" dirty="0"/>
              <a:t>сентимент-анализ по каждой теме</a:t>
            </a:r>
          </a:p>
        </p:txBody>
      </p:sp>
      <p:sp>
        <p:nvSpPr>
          <p:cNvPr id="12" name="Стрелка вправо 11">
            <a:extLst>
              <a:ext uri="{FF2B5EF4-FFF2-40B4-BE49-F238E27FC236}">
                <a16:creationId xmlns:a16="http://schemas.microsoft.com/office/drawing/2014/main" id="{28C2C5A1-EA82-2B26-70ED-382932036571}"/>
              </a:ext>
            </a:extLst>
          </p:cNvPr>
          <p:cNvSpPr/>
          <p:nvPr/>
        </p:nvSpPr>
        <p:spPr>
          <a:xfrm>
            <a:off x="594292" y="3735761"/>
            <a:ext cx="264160" cy="182800"/>
          </a:xfrm>
          <a:prstGeom prst="rightArrow">
            <a:avLst/>
          </a:prstGeom>
          <a:solidFill>
            <a:srgbClr val="BFBFBF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9D6D40-AADC-0D62-7B1E-CE540BCFC888}"/>
              </a:ext>
            </a:extLst>
          </p:cNvPr>
          <p:cNvSpPr txBox="1"/>
          <p:nvPr/>
        </p:nvSpPr>
        <p:spPr>
          <a:xfrm>
            <a:off x="475753" y="4011827"/>
            <a:ext cx="103269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234A9B"/>
                </a:solidFill>
              </a:rPr>
              <a:t>Аспекты известны заранее</a:t>
            </a:r>
            <a:r>
              <a:rPr lang="ru-RU" dirty="0"/>
              <a:t>. Стандарты качества ПВЗ заданы документами, не нужно «изобретать»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234A9B"/>
                </a:solidFill>
              </a:rPr>
              <a:t>Разметка проще. </a:t>
            </a:r>
            <a:r>
              <a:rPr lang="ru-RU" dirty="0"/>
              <a:t>Не требуется выделять границы аспектов в тексте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234A9B"/>
                </a:solidFill>
              </a:rPr>
              <a:t>Результат стабилен</a:t>
            </a:r>
            <a:r>
              <a:rPr lang="ru-RU" dirty="0"/>
              <a:t>. Список тем не меняется (график, вежливость, чистота и т.д.)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234A9B"/>
                </a:solidFill>
              </a:rPr>
              <a:t>Меньше ресурсов. </a:t>
            </a:r>
            <a:r>
              <a:rPr lang="en" dirty="0"/>
              <a:t>ABSA </a:t>
            </a:r>
            <a:r>
              <a:rPr lang="ru-RU" dirty="0"/>
              <a:t>требует тяжёлых моделей и </a:t>
            </a:r>
            <a:r>
              <a:rPr lang="en" dirty="0"/>
              <a:t>GPU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Задача = </a:t>
            </a:r>
            <a:r>
              <a:rPr lang="en" b="1" dirty="0">
                <a:solidFill>
                  <a:srgbClr val="234A9B"/>
                </a:solidFill>
              </a:rPr>
              <a:t>multi-label classification</a:t>
            </a:r>
            <a:r>
              <a:rPr lang="ru-RU" b="1" dirty="0">
                <a:solidFill>
                  <a:srgbClr val="234A9B"/>
                </a:solidFill>
              </a:rPr>
              <a:t>. </a:t>
            </a:r>
            <a:r>
              <a:rPr lang="ru-RU" dirty="0"/>
              <a:t>Требуется тональность по каждому аспекту, а не поиск аспектов в тексте </a:t>
            </a:r>
          </a:p>
          <a:p>
            <a:r>
              <a:rPr lang="ru-RU" dirty="0"/>
              <a:t>       </a:t>
            </a:r>
            <a:r>
              <a:rPr lang="en" b="1" dirty="0">
                <a:solidFill>
                  <a:srgbClr val="234A9B"/>
                </a:solidFill>
              </a:rPr>
              <a:t>ABSA — </a:t>
            </a:r>
            <a:r>
              <a:rPr lang="ru-RU" b="1" dirty="0">
                <a:solidFill>
                  <a:srgbClr val="234A9B"/>
                </a:solidFill>
              </a:rPr>
              <a:t>это </a:t>
            </a:r>
            <a:r>
              <a:rPr lang="en" b="1" dirty="0">
                <a:solidFill>
                  <a:srgbClr val="234A9B"/>
                </a:solidFill>
              </a:rPr>
              <a:t>over-engineering </a:t>
            </a:r>
            <a:r>
              <a:rPr lang="ru-RU" dirty="0"/>
              <a:t>для данной задачи. Выбранный подход даёт ту же практическую ценность при меньших затратах.</a:t>
            </a:r>
          </a:p>
        </p:txBody>
      </p:sp>
      <p:sp>
        <p:nvSpPr>
          <p:cNvPr id="15" name="Стрелка вправо 14">
            <a:extLst>
              <a:ext uri="{FF2B5EF4-FFF2-40B4-BE49-F238E27FC236}">
                <a16:creationId xmlns:a16="http://schemas.microsoft.com/office/drawing/2014/main" id="{68C0FCCF-BC9A-2350-CA60-1C59AD2A1768}"/>
              </a:ext>
            </a:extLst>
          </p:cNvPr>
          <p:cNvSpPr/>
          <p:nvPr/>
        </p:nvSpPr>
        <p:spPr>
          <a:xfrm>
            <a:off x="594292" y="5758714"/>
            <a:ext cx="264160" cy="182800"/>
          </a:xfrm>
          <a:prstGeom prst="rightArrow">
            <a:avLst/>
          </a:prstGeom>
          <a:solidFill>
            <a:srgbClr val="BFBFBF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150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86F7981-A866-4E4F-9C65-238C1CF1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B0430D-2AAB-034E-ACD0-CF459E67A8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FAF764-99F8-D24D-8800-048869E594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Методы предобработки текста</a:t>
            </a: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180B62D-0B0D-424A-9F38-8A8CCB1A71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7451" y="1298867"/>
            <a:ext cx="5717663" cy="703205"/>
          </a:xfrm>
        </p:spPr>
        <p:txBody>
          <a:bodyPr/>
          <a:lstStyle/>
          <a:p>
            <a:r>
              <a:rPr lang="ru-RU" sz="2400" dirty="0"/>
              <a:t>Предобработки текстовых данных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DB57327-56A7-23A4-3CD8-AB6A0271A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384338"/>
              </p:ext>
            </p:extLst>
          </p:nvPr>
        </p:nvGraphicFramePr>
        <p:xfrm>
          <a:off x="597451" y="1884385"/>
          <a:ext cx="5279437" cy="3292468"/>
        </p:xfrm>
        <a:graphic>
          <a:graphicData uri="http://schemas.openxmlformats.org/drawingml/2006/table">
            <a:tbl>
              <a:tblPr/>
              <a:tblGrid>
                <a:gridCol w="1175931">
                  <a:extLst>
                    <a:ext uri="{9D8B030D-6E8A-4147-A177-3AD203B41FA5}">
                      <a16:colId xmlns:a16="http://schemas.microsoft.com/office/drawing/2014/main" val="915949611"/>
                    </a:ext>
                  </a:extLst>
                </a:gridCol>
                <a:gridCol w="2496774">
                  <a:extLst>
                    <a:ext uri="{9D8B030D-6E8A-4147-A177-3AD203B41FA5}">
                      <a16:colId xmlns:a16="http://schemas.microsoft.com/office/drawing/2014/main" val="792987462"/>
                    </a:ext>
                  </a:extLst>
                </a:gridCol>
                <a:gridCol w="1606732">
                  <a:extLst>
                    <a:ext uri="{9D8B030D-6E8A-4147-A177-3AD203B41FA5}">
                      <a16:colId xmlns:a16="http://schemas.microsoft.com/office/drawing/2014/main" val="2907714150"/>
                    </a:ext>
                  </a:extLst>
                </a:gridCol>
              </a:tblGrid>
              <a:tr h="374190">
                <a:tc>
                  <a:txBody>
                    <a:bodyPr/>
                    <a:lstStyle/>
                    <a:p>
                      <a:pPr algn="ctr"/>
                      <a:r>
                        <a:rPr lang="ru-RU" sz="1400" b="1">
                          <a:solidFill>
                            <a:schemeClr val="bg1"/>
                          </a:solidFill>
                          <a:effectLst/>
                        </a:rPr>
                        <a:t>Этап</a:t>
                      </a:r>
                    </a:p>
                  </a:txBody>
                  <a:tcPr marL="64544" marR="107573" marT="67233" marB="672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Суть</a:t>
                      </a:r>
                    </a:p>
                  </a:txBody>
                  <a:tcPr marL="107573" marR="107573" marT="67233" marB="672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Инструменты</a:t>
                      </a:r>
                    </a:p>
                  </a:txBody>
                  <a:tcPr marL="107573" marR="107573" marT="67233" marB="672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556954"/>
                  </a:ext>
                </a:extLst>
              </a:tr>
              <a:tr h="784668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Очистка</a:t>
                      </a:r>
                    </a:p>
                  </a:txBody>
                  <a:tcPr marL="64544" marR="107573" marT="67233" marB="6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Удаление пунктуации, ссылок, </a:t>
                      </a:r>
                      <a:r>
                        <a:rPr lang="en" sz="1400">
                          <a:effectLst/>
                        </a:rPr>
                        <a:t>HTML-</a:t>
                      </a:r>
                      <a:r>
                        <a:rPr lang="ru-RU" sz="1400">
                          <a:effectLst/>
                        </a:rPr>
                        <a:t>тегов, лишних пробелов, цифр (без нагрузки)</a:t>
                      </a:r>
                    </a:p>
                  </a:txBody>
                  <a:tcPr marL="107573" marR="107573" marT="67233" marB="6723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Регулярные выражения</a:t>
                      </a:r>
                    </a:p>
                  </a:txBody>
                  <a:tcPr marL="107573" marR="64544" marT="67233" marB="6723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437993"/>
                  </a:ext>
                </a:extLst>
              </a:tr>
              <a:tr h="572852">
                <a:tc>
                  <a:txBody>
                    <a:bodyPr/>
                    <a:lstStyle/>
                    <a:p>
                      <a:r>
                        <a:rPr lang="ru-RU" sz="1400" dirty="0" err="1">
                          <a:effectLst/>
                        </a:rPr>
                        <a:t>Токенизация</a:t>
                      </a:r>
                      <a:endParaRPr lang="ru-RU" sz="1400" dirty="0">
                        <a:effectLst/>
                      </a:endParaRPr>
                    </a:p>
                  </a:txBody>
                  <a:tcPr marL="64544" marR="107573" marT="67233" marB="6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Разбиение текста на токены (слова, цифры, знаки)</a:t>
                      </a:r>
                    </a:p>
                  </a:txBody>
                  <a:tcPr marL="107573" marR="107573" marT="67233" marB="672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400" dirty="0">
                          <a:effectLst/>
                        </a:rPr>
                        <a:t>split(), NLTK (</a:t>
                      </a:r>
                      <a:r>
                        <a:rPr lang="en" sz="1400" dirty="0" err="1">
                          <a:effectLst/>
                        </a:rPr>
                        <a:t>word_tokenize</a:t>
                      </a:r>
                      <a:r>
                        <a:rPr lang="en" sz="1400" dirty="0">
                          <a:effectLst/>
                        </a:rPr>
                        <a:t>)</a:t>
                      </a:r>
                    </a:p>
                  </a:txBody>
                  <a:tcPr marL="107573" marR="64544" marT="67233" marB="6723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2855004"/>
                  </a:ext>
                </a:extLst>
              </a:tr>
              <a:tr h="784668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Нормализация</a:t>
                      </a:r>
                    </a:p>
                  </a:txBody>
                  <a:tcPr marL="64544" marR="107573" marT="67233" marB="6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Приведение слов к базовой форме (работал → работать). </a:t>
                      </a:r>
                      <a:r>
                        <a:rPr lang="ru-RU" sz="1400" dirty="0" err="1">
                          <a:effectLst/>
                        </a:rPr>
                        <a:t>Стеммниг</a:t>
                      </a:r>
                      <a:r>
                        <a:rPr lang="ru-RU" sz="1400" dirty="0">
                          <a:effectLst/>
                        </a:rPr>
                        <a:t>, </a:t>
                      </a:r>
                      <a:r>
                        <a:rPr lang="ru-RU" sz="1400" dirty="0" err="1">
                          <a:effectLst/>
                        </a:rPr>
                        <a:t>лемматизация</a:t>
                      </a:r>
                      <a:endParaRPr lang="ru-RU" sz="1400" dirty="0">
                        <a:effectLst/>
                      </a:endParaRPr>
                    </a:p>
                  </a:txBody>
                  <a:tcPr marL="107573" marR="107573" marT="67233" marB="672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>
                          <a:effectLst/>
                        </a:rPr>
                        <a:t>Лемматизация</a:t>
                      </a:r>
                      <a:r>
                        <a:rPr lang="ru-RU" sz="1400" dirty="0">
                          <a:effectLst/>
                        </a:rPr>
                        <a:t>: </a:t>
                      </a:r>
                      <a:r>
                        <a:rPr lang="en" sz="1400" dirty="0">
                          <a:effectLst/>
                        </a:rPr>
                        <a:t>pymorphy2, Natasha</a:t>
                      </a:r>
                    </a:p>
                  </a:txBody>
                  <a:tcPr marL="107573" marR="64544" marT="67233" marB="6723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013890"/>
                  </a:ext>
                </a:extLst>
              </a:tr>
              <a:tr h="572852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Удаление стоп-слов</a:t>
                      </a:r>
                    </a:p>
                  </a:txBody>
                  <a:tcPr marL="64544" marR="107573" marT="67233" marB="672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Исключение предлогов, союзов, местоимений</a:t>
                      </a:r>
                    </a:p>
                  </a:txBody>
                  <a:tcPr marL="107573" marR="107573" marT="67233" marB="672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400" dirty="0">
                          <a:effectLst/>
                        </a:rPr>
                        <a:t>NLTK (151 </a:t>
                      </a:r>
                      <a:r>
                        <a:rPr lang="ru-RU" sz="1400" dirty="0">
                          <a:effectLst/>
                        </a:rPr>
                        <a:t>слово), </a:t>
                      </a:r>
                      <a:r>
                        <a:rPr lang="en" sz="1400" dirty="0" err="1">
                          <a:effectLst/>
                        </a:rPr>
                        <a:t>spaCy</a:t>
                      </a:r>
                      <a:r>
                        <a:rPr lang="en" sz="1400" dirty="0">
                          <a:effectLst/>
                        </a:rPr>
                        <a:t> (250+ </a:t>
                      </a:r>
                      <a:r>
                        <a:rPr lang="ru-RU" sz="1400" dirty="0">
                          <a:effectLst/>
                        </a:rPr>
                        <a:t>слов)</a:t>
                      </a:r>
                    </a:p>
                  </a:txBody>
                  <a:tcPr marL="107573" marR="64544" marT="67233" marB="6723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175795"/>
                  </a:ext>
                </a:extLst>
              </a:tr>
            </a:tbl>
          </a:graphicData>
        </a:graphic>
      </p:graphicFrame>
      <p:sp>
        <p:nvSpPr>
          <p:cNvPr id="10" name="Текст 6">
            <a:extLst>
              <a:ext uri="{FF2B5EF4-FFF2-40B4-BE49-F238E27FC236}">
                <a16:creationId xmlns:a16="http://schemas.microsoft.com/office/drawing/2014/main" id="{A8330E0B-CAA1-7311-4B06-A1407DF5E4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451" y="5347173"/>
            <a:ext cx="3934345" cy="553998"/>
          </a:xfrm>
        </p:spPr>
        <p:txBody>
          <a:bodyPr/>
          <a:lstStyle/>
          <a:p>
            <a:r>
              <a:rPr lang="en-US" dirty="0"/>
              <a:t>*</a:t>
            </a:r>
            <a:r>
              <a:rPr lang="ru-RU" dirty="0"/>
              <a:t>Примечание для стоп-слов: частицы отрицания меняют тональность, поэтому их необходимо оставить при обработке данных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3E3142A9-6AA6-8D63-C091-CDB713087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9263" y="1430216"/>
            <a:ext cx="772491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</a:br>
            <a:endParaRPr kumimoji="0" lang="ru-RU" altLang="ru-RU" sz="1200" b="0" i="0" u="none" strike="noStrike" cap="none" normalizeH="0" baseline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9" name="Таблица 28">
            <a:extLst>
              <a:ext uri="{FF2B5EF4-FFF2-40B4-BE49-F238E27FC236}">
                <a16:creationId xmlns:a16="http://schemas.microsoft.com/office/drawing/2014/main" id="{2F21FF5A-08FB-C815-C465-3255119ED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983999"/>
              </p:ext>
            </p:extLst>
          </p:nvPr>
        </p:nvGraphicFramePr>
        <p:xfrm>
          <a:off x="6096000" y="1884385"/>
          <a:ext cx="5634409" cy="3277410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3287555817"/>
                    </a:ext>
                  </a:extLst>
                </a:gridCol>
                <a:gridCol w="1310194">
                  <a:extLst>
                    <a:ext uri="{9D8B030D-6E8A-4147-A177-3AD203B41FA5}">
                      <a16:colId xmlns:a16="http://schemas.microsoft.com/office/drawing/2014/main" val="2285167904"/>
                    </a:ext>
                  </a:extLst>
                </a:gridCol>
                <a:gridCol w="1023921">
                  <a:extLst>
                    <a:ext uri="{9D8B030D-6E8A-4147-A177-3AD203B41FA5}">
                      <a16:colId xmlns:a16="http://schemas.microsoft.com/office/drawing/2014/main" val="2670183217"/>
                    </a:ext>
                  </a:extLst>
                </a:gridCol>
                <a:gridCol w="1067453">
                  <a:extLst>
                    <a:ext uri="{9D8B030D-6E8A-4147-A177-3AD203B41FA5}">
                      <a16:colId xmlns:a16="http://schemas.microsoft.com/office/drawing/2014/main" val="1428340833"/>
                    </a:ext>
                  </a:extLst>
                </a:gridCol>
                <a:gridCol w="1208713">
                  <a:extLst>
                    <a:ext uri="{9D8B030D-6E8A-4147-A177-3AD203B41FA5}">
                      <a16:colId xmlns:a16="http://schemas.microsoft.com/office/drawing/2014/main" val="843386156"/>
                    </a:ext>
                  </a:extLst>
                </a:gridCol>
              </a:tblGrid>
              <a:tr h="358943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chemeClr val="bg1"/>
                          </a:solidFill>
                          <a:effectLst/>
                        </a:rPr>
                        <a:t>Метод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chemeClr val="bg1"/>
                          </a:solidFill>
                          <a:effectLst/>
                        </a:rPr>
                        <a:t>Принцип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Пример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Плюсы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Минусы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381431"/>
                  </a:ext>
                </a:extLst>
              </a:tr>
              <a:tr h="1265504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Стемминг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Обрезание окончаний и суффиксов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работал → работ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Быстрый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Результат не всегда реальное слово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685512"/>
                  </a:ext>
                </a:extLst>
              </a:tr>
              <a:tr h="1608046">
                <a:tc>
                  <a:txBody>
                    <a:bodyPr/>
                    <a:lstStyle/>
                    <a:p>
                      <a:r>
                        <a:rPr lang="ru-RU" sz="1400" dirty="0" err="1">
                          <a:effectLst/>
                        </a:rPr>
                        <a:t>Леммати</a:t>
                      </a:r>
                      <a:r>
                        <a:rPr lang="ru-RU" sz="1400" dirty="0">
                          <a:effectLst/>
                        </a:rPr>
                        <a:t>-</a:t>
                      </a:r>
                    </a:p>
                    <a:p>
                      <a:r>
                        <a:rPr lang="ru-RU" sz="1400" dirty="0" err="1">
                          <a:effectLst/>
                        </a:rPr>
                        <a:t>зация</a:t>
                      </a:r>
                      <a:endParaRPr lang="ru-RU" sz="1400" dirty="0">
                        <a:effectLst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Приведение к нормальной (словарной) форме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работал → работать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Сохраняет смысл, унифицирует словоформы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Медленнее </a:t>
                      </a:r>
                      <a:r>
                        <a:rPr lang="ru-RU" sz="1400" dirty="0" err="1">
                          <a:effectLst/>
                        </a:rPr>
                        <a:t>стемминга</a:t>
                      </a:r>
                      <a:endParaRPr lang="ru-RU" sz="1400" dirty="0">
                        <a:effectLst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979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894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86F7981-A866-4E4F-9C65-238C1CF1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B0430D-2AAB-034E-ACD0-CF459E67A8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FAF764-99F8-D24D-8800-048869E594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Методы предобработки текста</a:t>
            </a:r>
          </a:p>
          <a:p>
            <a:endParaRPr lang="ru-RU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3E3142A9-6AA6-8D63-C091-CDB713087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9263" y="1430216"/>
            <a:ext cx="772491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</a:br>
            <a:endParaRPr kumimoji="0" lang="ru-RU" altLang="ru-RU" sz="1200" b="0" i="0" u="none" strike="noStrike" cap="none" normalizeH="0" baseline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A44EE965-5938-9B22-FED4-BD4881E26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475802"/>
              </p:ext>
            </p:extLst>
          </p:nvPr>
        </p:nvGraphicFramePr>
        <p:xfrm>
          <a:off x="519924" y="1730384"/>
          <a:ext cx="5576076" cy="3697400"/>
        </p:xfrm>
        <a:graphic>
          <a:graphicData uri="http://schemas.openxmlformats.org/drawingml/2006/table">
            <a:tbl>
              <a:tblPr/>
              <a:tblGrid>
                <a:gridCol w="769141">
                  <a:extLst>
                    <a:ext uri="{9D8B030D-6E8A-4147-A177-3AD203B41FA5}">
                      <a16:colId xmlns:a16="http://schemas.microsoft.com/office/drawing/2014/main" val="877191721"/>
                    </a:ext>
                  </a:extLst>
                </a:gridCol>
                <a:gridCol w="1278256">
                  <a:extLst>
                    <a:ext uri="{9D8B030D-6E8A-4147-A177-3AD203B41FA5}">
                      <a16:colId xmlns:a16="http://schemas.microsoft.com/office/drawing/2014/main" val="2424849704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1500861421"/>
                    </a:ext>
                  </a:extLst>
                </a:gridCol>
                <a:gridCol w="2063735">
                  <a:extLst>
                    <a:ext uri="{9D8B030D-6E8A-4147-A177-3AD203B41FA5}">
                      <a16:colId xmlns:a16="http://schemas.microsoft.com/office/drawing/2014/main" val="1190206766"/>
                    </a:ext>
                  </a:extLst>
                </a:gridCol>
              </a:tblGrid>
              <a:tr h="414519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Метод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>
                          <a:solidFill>
                            <a:schemeClr val="bg1"/>
                          </a:solidFill>
                          <a:effectLst/>
                        </a:rPr>
                        <a:t>Принцип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>
                          <a:solidFill>
                            <a:schemeClr val="bg1"/>
                          </a:solidFill>
                          <a:effectLst/>
                        </a:rPr>
                        <a:t>Преимущества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Недостатки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778368"/>
                  </a:ext>
                </a:extLst>
              </a:tr>
              <a:tr h="1755517">
                <a:tc>
                  <a:txBody>
                    <a:bodyPr/>
                    <a:lstStyle/>
                    <a:p>
                      <a:r>
                        <a:rPr lang="en" sz="1400" dirty="0">
                          <a:effectLst/>
                        </a:rPr>
                        <a:t>Bag-of-Words (</a:t>
                      </a:r>
                      <a:r>
                        <a:rPr lang="en" sz="1400" dirty="0" err="1">
                          <a:effectLst/>
                        </a:rPr>
                        <a:t>BoW</a:t>
                      </a:r>
                      <a:r>
                        <a:rPr lang="en" sz="1400" dirty="0">
                          <a:effectLst/>
                        </a:rPr>
                        <a:t>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Частота слов в тексте (вектор = размер словаря)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Простота, интерпретируемость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Игнорирование порядка слов и контекста, размер = словарю, проблема стоп-слов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151621"/>
                  </a:ext>
                </a:extLst>
              </a:tr>
              <a:tr h="1527364">
                <a:tc>
                  <a:txBody>
                    <a:bodyPr/>
                    <a:lstStyle/>
                    <a:p>
                      <a:r>
                        <a:rPr lang="en" sz="1400" dirty="0">
                          <a:effectLst/>
                        </a:rPr>
                        <a:t>TF-IDF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400" dirty="0">
                          <a:effectLst/>
                        </a:rPr>
                        <a:t>TF × IDF (</a:t>
                      </a:r>
                      <a:r>
                        <a:rPr lang="ru-RU" sz="1400" dirty="0">
                          <a:effectLst/>
                        </a:rPr>
                        <a:t>частота слова × обратная частота в корпусе)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Снижает влияние общих слов, повышает вес редких значимых слов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Как у </a:t>
                      </a:r>
                      <a:r>
                        <a:rPr lang="en" sz="1400" dirty="0" err="1">
                          <a:effectLst/>
                        </a:rPr>
                        <a:t>BoW</a:t>
                      </a:r>
                      <a:r>
                        <a:rPr lang="en" sz="1400" dirty="0">
                          <a:effectLst/>
                        </a:rPr>
                        <a:t> (</a:t>
                      </a:r>
                      <a:r>
                        <a:rPr lang="ru-RU" sz="1400" dirty="0">
                          <a:effectLst/>
                        </a:rPr>
                        <a:t>игнорирование порядка и контекста, нет семантической близости)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848629"/>
                  </a:ext>
                </a:extLst>
              </a:tr>
            </a:tbl>
          </a:graphicData>
        </a:graphic>
      </p:graphicFrame>
      <p:sp>
        <p:nvSpPr>
          <p:cNvPr id="32" name="Текст 6">
            <a:extLst>
              <a:ext uri="{FF2B5EF4-FFF2-40B4-BE49-F238E27FC236}">
                <a16:creationId xmlns:a16="http://schemas.microsoft.com/office/drawing/2014/main" id="{831F81DE-3F6C-1ED7-CFA4-E65761C5CC83}"/>
              </a:ext>
            </a:extLst>
          </p:cNvPr>
          <p:cNvSpPr txBox="1">
            <a:spLocks/>
          </p:cNvSpPr>
          <p:nvPr/>
        </p:nvSpPr>
        <p:spPr>
          <a:xfrm>
            <a:off x="1207057" y="1378782"/>
            <a:ext cx="4322762" cy="703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Векторизация текста. Классические методы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1FF9BFE-FE45-E2A1-E9BA-D016D66EA01F}"/>
                  </a:ext>
                </a:extLst>
              </p:cNvPr>
              <p:cNvSpPr txBox="1"/>
              <p:nvPr/>
            </p:nvSpPr>
            <p:spPr>
              <a:xfrm>
                <a:off x="6461037" y="1671029"/>
                <a:ext cx="5435373" cy="38161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0215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1600" b="1" dirty="0">
                    <a:solidFill>
                      <a:srgbClr val="0E2D69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TF-IDF:</a:t>
                </a:r>
                <a:endParaRPr lang="ru-RU" sz="1600" b="1" dirty="0">
                  <a:solidFill>
                    <a:srgbClr val="0E2D69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ru-RU" sz="1600" b="1" dirty="0" err="1">
                    <a:solidFill>
                      <a:srgbClr val="0E2D69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Term</a:t>
                </a:r>
                <a:r>
                  <a:rPr lang="ru-RU" sz="1600" b="1" dirty="0">
                    <a:solidFill>
                      <a:srgbClr val="0E2D69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b="1" dirty="0" err="1">
                    <a:solidFill>
                      <a:srgbClr val="0E2D69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Frequency</a:t>
                </a:r>
                <a:r>
                  <a:rPr lang="ru-RU" sz="1600" b="1" dirty="0">
                    <a:solidFill>
                      <a:srgbClr val="0E2D69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(TF)</a:t>
                </a:r>
                <a:r>
                  <a:rPr lang="ru-RU" sz="1600" dirty="0">
                    <a:solidFill>
                      <a:srgbClr val="0E2D69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— частота слова в документе:</a:t>
                </a:r>
              </a:p>
              <a:p>
                <a:pPr indent="450215">
                  <a:lnSpc>
                    <a:spcPct val="15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1600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TF</m:t>
                    </m:r>
                    <m:d>
                      <m:dPr>
                        <m:ctrlPr>
                          <a:rPr lang="ru-RU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t</m:t>
                        </m:r>
                        <m:r>
                          <a:rPr lang="ru-RU" sz="1600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d</m:t>
                        </m:r>
                      </m:e>
                    </m:d>
                    <m:r>
                      <a:rPr lang="ru-RU" sz="1600" i="1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кол−во вхождений слова </m:t>
                        </m:r>
                        <m:r>
                          <a:rPr lang="en-US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в документе </m:t>
                        </m:r>
                        <m:r>
                          <a:rPr lang="en-US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𝑑</m:t>
                        </m:r>
                      </m:num>
                      <m:den>
                        <m:r>
                          <a:rPr lang="ru-RU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общее кол−во слов в документе </m:t>
                        </m:r>
                        <m:r>
                          <a:rPr lang="en-US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sz="1600" i="1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600" dirty="0">
                    <a:solidFill>
                      <a:srgbClr val="0E2D69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​ </a:t>
                </a:r>
                <a:endParaRPr lang="en-US" sz="1600" dirty="0">
                  <a:solidFill>
                    <a:srgbClr val="0E2D69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ru-RU" sz="1600" b="1" dirty="0">
                    <a:solidFill>
                      <a:srgbClr val="0E2D69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Inverse Document </a:t>
                </a:r>
                <a:r>
                  <a:rPr lang="ru-RU" sz="1600" b="1" dirty="0" err="1">
                    <a:solidFill>
                      <a:srgbClr val="0E2D69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Frequency</a:t>
                </a:r>
                <a:r>
                  <a:rPr lang="ru-RU" sz="1600" b="1" dirty="0">
                    <a:solidFill>
                      <a:srgbClr val="0E2D69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(IDF)</a:t>
                </a:r>
                <a:r>
                  <a:rPr lang="ru-RU" sz="1600" dirty="0">
                    <a:solidFill>
                      <a:srgbClr val="0E2D69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— обратная частота документа:</a:t>
                </a:r>
                <a:br>
                  <a:rPr lang="ru-RU" sz="1600" dirty="0">
                    <a:solidFill>
                      <a:srgbClr val="0E2D69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𝐼</m:t>
                    </m:r>
                    <m:r>
                      <a:rPr lang="en-US" sz="1600" i="1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𝐷𝐹</m:t>
                    </m:r>
                    <m:d>
                      <m:dPr>
                        <m:ctrlPr>
                          <a:rPr lang="ru-RU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t</m:t>
                        </m:r>
                        <m:r>
                          <a:rPr lang="ru-RU" sz="1600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D</m:t>
                        </m:r>
                      </m:e>
                    </m:d>
                    <m:r>
                      <a:rPr lang="ru-RU" sz="1600" i="1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u-RU" sz="1600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log</m:t>
                    </m:r>
                    <m:r>
                      <a:rPr lang="ru-RU" sz="1600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⁡</m:t>
                    </m:r>
                    <m:r>
                      <a:rPr lang="ru-RU" sz="1600" i="1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lang="ru-RU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общее кол−во документов в корпусе </m:t>
                        </m:r>
                        <m:r>
                          <a:rPr lang="ru-RU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𝐷</m:t>
                        </m:r>
                      </m:num>
                      <m:den>
                        <m:r>
                          <a:rPr lang="ru-RU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кол−во документов, содержащих слово </m:t>
                        </m:r>
                        <m:r>
                          <a:rPr lang="ru-RU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den>
                    </m:f>
                    <m:r>
                      <a:rPr lang="ru-RU" sz="1600" i="1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E2D69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  <a:p>
                <a:pPr indent="450215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ru-RU" sz="1600" b="1" dirty="0">
                    <a:solidFill>
                      <a:srgbClr val="0E2D69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Итоговая формула:</a:t>
                </a:r>
                <a:endParaRPr lang="ru-RU" sz="1600" dirty="0">
                  <a:solidFill>
                    <a:srgbClr val="0E2D69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>
                  <a:lnSpc>
                    <a:spcPct val="15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1600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TF</m:t>
                    </m:r>
                    <m:r>
                      <a:rPr lang="ru-RU" sz="1600" i="1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ru-RU" sz="1600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IDF</m:t>
                    </m:r>
                    <m:d>
                      <m:dPr>
                        <m:ctrlPr>
                          <a:rPr lang="ru-RU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t</m:t>
                        </m:r>
                        <m:r>
                          <a:rPr lang="ru-RU" sz="1600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d</m:t>
                        </m:r>
                        <m:r>
                          <a:rPr lang="ru-RU" sz="1600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D</m:t>
                        </m:r>
                      </m:e>
                    </m:d>
                    <m:r>
                      <a:rPr lang="ru-RU" sz="1600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u-RU" sz="1600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TF</m:t>
                    </m:r>
                    <m:d>
                      <m:dPr>
                        <m:ctrlPr>
                          <a:rPr lang="ru-RU" sz="1600" i="1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t</m:t>
                        </m:r>
                        <m:r>
                          <a:rPr lang="ru-RU" sz="1600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E2D69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d</m:t>
                        </m:r>
                      </m:e>
                    </m:d>
                    <m:r>
                      <a:rPr lang="ru-RU" sz="1600" i="1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ru-RU" sz="1600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IDF</m:t>
                    </m:r>
                    <m:r>
                      <a:rPr lang="ru-RU" sz="1600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ru-RU" sz="1600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t</m:t>
                    </m:r>
                    <m:r>
                      <a:rPr lang="ru-RU" sz="1600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ru-RU" sz="1600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D</m:t>
                    </m:r>
                    <m:r>
                      <a:rPr lang="ru-RU" sz="1600">
                        <a:solidFill>
                          <a:srgbClr val="0E2D69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E2D69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1FF9BFE-FE45-E2A1-E9BA-D016D66EA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037" y="1671029"/>
                <a:ext cx="5435373" cy="3816109"/>
              </a:xfrm>
              <a:prstGeom prst="rect">
                <a:avLst/>
              </a:prstGeom>
              <a:blipFill>
                <a:blip r:embed="rId2"/>
                <a:stretch>
                  <a:fillRect l="-466" b="-3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23A71599-15CE-BC0E-2091-E477457164B7}"/>
              </a:ext>
            </a:extLst>
          </p:cNvPr>
          <p:cNvCxnSpPr>
            <a:cxnSpLocks/>
          </p:cNvCxnSpPr>
          <p:nvPr/>
        </p:nvCxnSpPr>
        <p:spPr>
          <a:xfrm flipV="1">
            <a:off x="6283454" y="2468336"/>
            <a:ext cx="491428" cy="200082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176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BE1F6DB-2C79-0F40-985F-DB8180BAFB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CC9B4C-151F-204A-9B26-BE1838EFB2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CD81CA-2715-AB4B-A575-27FBCE550D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Методы предобработки текста</a:t>
            </a:r>
          </a:p>
          <a:p>
            <a:endParaRPr lang="ru-RU" dirty="0"/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32C93A09-0A99-3FA4-E7CA-D219B710B94F}"/>
              </a:ext>
            </a:extLst>
          </p:cNvPr>
          <p:cNvSpPr txBox="1">
            <a:spLocks/>
          </p:cNvSpPr>
          <p:nvPr/>
        </p:nvSpPr>
        <p:spPr>
          <a:xfrm>
            <a:off x="1042987" y="1444362"/>
            <a:ext cx="4322762" cy="703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Векторизация текста. </a:t>
            </a:r>
            <a:r>
              <a:rPr lang="en" i="0" u="none" strike="noStrike" dirty="0">
                <a:effectLst/>
                <a:latin typeface="quote-cjk-patch"/>
              </a:rPr>
              <a:t>Word Embeddings</a:t>
            </a:r>
          </a:p>
          <a:p>
            <a:endParaRPr lang="ru-RU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F640538-2382-BCF4-6B8B-A599AD882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438022"/>
              </p:ext>
            </p:extLst>
          </p:nvPr>
        </p:nvGraphicFramePr>
        <p:xfrm>
          <a:off x="924968" y="1947626"/>
          <a:ext cx="7907947" cy="3308028"/>
        </p:xfrm>
        <a:graphic>
          <a:graphicData uri="http://schemas.openxmlformats.org/drawingml/2006/table">
            <a:tbl>
              <a:tblPr/>
              <a:tblGrid>
                <a:gridCol w="1690006">
                  <a:extLst>
                    <a:ext uri="{9D8B030D-6E8A-4147-A177-3AD203B41FA5}">
                      <a16:colId xmlns:a16="http://schemas.microsoft.com/office/drawing/2014/main" val="2367756801"/>
                    </a:ext>
                  </a:extLst>
                </a:gridCol>
                <a:gridCol w="1419698">
                  <a:extLst>
                    <a:ext uri="{9D8B030D-6E8A-4147-A177-3AD203B41FA5}">
                      <a16:colId xmlns:a16="http://schemas.microsoft.com/office/drawing/2014/main" val="36998833"/>
                    </a:ext>
                  </a:extLst>
                </a:gridCol>
                <a:gridCol w="2498103">
                  <a:extLst>
                    <a:ext uri="{9D8B030D-6E8A-4147-A177-3AD203B41FA5}">
                      <a16:colId xmlns:a16="http://schemas.microsoft.com/office/drawing/2014/main" val="193402788"/>
                    </a:ext>
                  </a:extLst>
                </a:gridCol>
                <a:gridCol w="2300140">
                  <a:extLst>
                    <a:ext uri="{9D8B030D-6E8A-4147-A177-3AD203B41FA5}">
                      <a16:colId xmlns:a16="http://schemas.microsoft.com/office/drawing/2014/main" val="1233470311"/>
                    </a:ext>
                  </a:extLst>
                </a:gridCol>
              </a:tblGrid>
              <a:tr h="265459">
                <a:tc>
                  <a:txBody>
                    <a:bodyPr/>
                    <a:lstStyle/>
                    <a:p>
                      <a:pPr algn="ctr"/>
                      <a:r>
                        <a:rPr lang="ru-RU" sz="1100" b="1">
                          <a:solidFill>
                            <a:schemeClr val="bg1"/>
                          </a:solidFill>
                          <a:effectLst/>
                        </a:rPr>
                        <a:t>Метод</a:t>
                      </a:r>
                    </a:p>
                  </a:txBody>
                  <a:tcPr marL="32840" marR="54734" marT="34209" marB="342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>
                          <a:solidFill>
                            <a:schemeClr val="bg1"/>
                          </a:solidFill>
                          <a:effectLst/>
                        </a:rPr>
                        <a:t>Разработчик</a:t>
                      </a:r>
                    </a:p>
                  </a:txBody>
                  <a:tcPr marL="54734" marR="54734" marT="34209" marB="3420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>
                          <a:solidFill>
                            <a:schemeClr val="bg1"/>
                          </a:solidFill>
                          <a:effectLst/>
                        </a:rPr>
                        <a:t>Принцип работы</a:t>
                      </a:r>
                    </a:p>
                  </a:txBody>
                  <a:tcPr marL="54734" marR="54734" marT="34209" marB="3420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bg1"/>
                          </a:solidFill>
                          <a:effectLst/>
                        </a:rPr>
                        <a:t>Особенность</a:t>
                      </a:r>
                    </a:p>
                  </a:txBody>
                  <a:tcPr marL="54734" marR="54734" marT="34209" marB="3420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946450"/>
                  </a:ext>
                </a:extLst>
              </a:tr>
              <a:tr h="856584">
                <a:tc>
                  <a:txBody>
                    <a:bodyPr/>
                    <a:lstStyle/>
                    <a:p>
                      <a:r>
                        <a:rPr lang="en" sz="1100" b="1">
                          <a:effectLst/>
                        </a:rPr>
                        <a:t>Word2Vec (Skip-gram)</a:t>
                      </a:r>
                      <a:endParaRPr lang="en" sz="1100">
                        <a:effectLst/>
                      </a:endParaRPr>
                    </a:p>
                  </a:txBody>
                  <a:tcPr marL="32840" marR="54734" marT="34209" marB="342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100">
                          <a:effectLst/>
                        </a:rPr>
                        <a:t>Google (2013)</a:t>
                      </a:r>
                    </a:p>
                  </a:txBody>
                  <a:tcPr marL="54734" marR="54734" marT="34209" marB="342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Предсказывает слова-контекст по заданному целевому слову</a:t>
                      </a:r>
                    </a:p>
                  </a:txBody>
                  <a:tcPr marL="54734" marR="54734" marT="34209" marB="342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Лучше работает с редкими словами. Каждому слову — один фиксированный вектор независимо от контекста</a:t>
                      </a:r>
                    </a:p>
                  </a:txBody>
                  <a:tcPr marL="54734" marR="54734" marT="34209" marB="3420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225289"/>
                  </a:ext>
                </a:extLst>
              </a:tr>
              <a:tr h="561022">
                <a:tc>
                  <a:txBody>
                    <a:bodyPr/>
                    <a:lstStyle/>
                    <a:p>
                      <a:r>
                        <a:rPr lang="en" sz="1100" b="1" dirty="0">
                          <a:effectLst/>
                        </a:rPr>
                        <a:t>Word2Vec (CBOW)</a:t>
                      </a:r>
                      <a:endParaRPr lang="en" sz="1100" dirty="0">
                        <a:effectLst/>
                      </a:endParaRPr>
                    </a:p>
                  </a:txBody>
                  <a:tcPr marL="32840" marR="54734" marT="34209" marB="342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100">
                          <a:effectLst/>
                        </a:rPr>
                        <a:t>Google (2013)</a:t>
                      </a:r>
                    </a:p>
                  </a:txBody>
                  <a:tcPr marL="54734" marR="54734" marT="34209" marB="342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Предсказывает целевое слово по окружающему контексту</a:t>
                      </a:r>
                    </a:p>
                  </a:txBody>
                  <a:tcPr marL="54734" marR="54734" marT="34209" marB="342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Быстрее </a:t>
                      </a:r>
                      <a:r>
                        <a:rPr lang="en" sz="1100">
                          <a:effectLst/>
                        </a:rPr>
                        <a:t>Skip-gram, </a:t>
                      </a:r>
                      <a:r>
                        <a:rPr lang="ru-RU" sz="1100">
                          <a:effectLst/>
                        </a:rPr>
                        <a:t>лучше для частотных слов. Игнорирует порядок слов</a:t>
                      </a:r>
                    </a:p>
                  </a:txBody>
                  <a:tcPr marL="54734" marR="54734" marT="34209" marB="3420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108508"/>
                  </a:ext>
                </a:extLst>
              </a:tr>
              <a:tr h="856584">
                <a:tc>
                  <a:txBody>
                    <a:bodyPr/>
                    <a:lstStyle/>
                    <a:p>
                      <a:r>
                        <a:rPr lang="en" sz="1100" b="1">
                          <a:effectLst/>
                        </a:rPr>
                        <a:t>FastText</a:t>
                      </a:r>
                      <a:endParaRPr lang="en" sz="1100">
                        <a:effectLst/>
                      </a:endParaRPr>
                    </a:p>
                  </a:txBody>
                  <a:tcPr marL="32840" marR="54734" marT="34209" marB="342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100">
                          <a:effectLst/>
                        </a:rPr>
                        <a:t>Facebook (FAIR)</a:t>
                      </a:r>
                    </a:p>
                  </a:txBody>
                  <a:tcPr marL="54734" marR="54734" marT="34209" marB="342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Символьные </a:t>
                      </a:r>
                      <a:r>
                        <a:rPr lang="en" sz="1100">
                          <a:effectLst/>
                        </a:rPr>
                        <a:t>n-</a:t>
                      </a:r>
                      <a:r>
                        <a:rPr lang="ru-RU" sz="1100">
                          <a:effectLst/>
                        </a:rPr>
                        <a:t>граммы (субсловные единицы, 2-5 символов)</a:t>
                      </a:r>
                    </a:p>
                  </a:txBody>
                  <a:tcPr marL="54734" marR="54734" marT="34209" marB="342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Работает с редкими и незнакомыми словами (</a:t>
                      </a:r>
                      <a:r>
                        <a:rPr lang="en" sz="1100">
                          <a:effectLst/>
                        </a:rPr>
                        <a:t>OOV). </a:t>
                      </a:r>
                      <a:r>
                        <a:rPr lang="ru-RU" sz="1100">
                          <a:effectLst/>
                        </a:rPr>
                        <a:t>Учитывает морфологию — важно для русского языка</a:t>
                      </a:r>
                    </a:p>
                  </a:txBody>
                  <a:tcPr marL="54734" marR="54734" marT="34209" marB="3420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832572"/>
                  </a:ext>
                </a:extLst>
              </a:tr>
              <a:tr h="758063">
                <a:tc>
                  <a:txBody>
                    <a:bodyPr/>
                    <a:lstStyle/>
                    <a:p>
                      <a:r>
                        <a:rPr lang="en" sz="1100" b="1">
                          <a:effectLst/>
                        </a:rPr>
                        <a:t>BERT (</a:t>
                      </a:r>
                      <a:r>
                        <a:rPr lang="ru-RU" sz="1100" b="1">
                          <a:effectLst/>
                        </a:rPr>
                        <a:t>контекстные эмбеддинги)</a:t>
                      </a:r>
                      <a:endParaRPr lang="ru-RU" sz="1100">
                        <a:effectLst/>
                      </a:endParaRPr>
                    </a:p>
                  </a:txBody>
                  <a:tcPr marL="32840" marR="54734" marT="34209" marB="342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100">
                          <a:effectLst/>
                        </a:rPr>
                        <a:t>Google (2018)</a:t>
                      </a:r>
                    </a:p>
                  </a:txBody>
                  <a:tcPr marL="54734" marR="54734" marT="34209" marB="342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Трансформер с механизмом внимания. Учитывает контекст слова слева и справа одновременно</a:t>
                      </a:r>
                    </a:p>
                  </a:txBody>
                  <a:tcPr marL="54734" marR="54734" marT="34209" marB="342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Генерирует разные векторы для слова в разных контекстах. Понимает омонимы и отрицания</a:t>
                      </a:r>
                    </a:p>
                  </a:txBody>
                  <a:tcPr marL="54734" marR="54734" marT="34209" marB="3420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0165358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52FF64CB-1C39-1C90-3163-7E6A9D94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8463" y="2282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3553BA75-B2F9-395A-7CF6-585440759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788" y="2282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655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BE1F6DB-2C79-0F40-985F-DB8180BAFB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CC9B4C-151F-204A-9B26-BE1838EFB2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CD81CA-2715-AB4B-A575-27FBCE550D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Методы предобработки текста</a:t>
            </a:r>
          </a:p>
          <a:p>
            <a:endParaRPr lang="ru-RU" dirty="0"/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32C93A09-0A99-3FA4-E7CA-D219B710B94F}"/>
              </a:ext>
            </a:extLst>
          </p:cNvPr>
          <p:cNvSpPr txBox="1">
            <a:spLocks/>
          </p:cNvSpPr>
          <p:nvPr/>
        </p:nvSpPr>
        <p:spPr>
          <a:xfrm>
            <a:off x="1042987" y="1444362"/>
            <a:ext cx="4322762" cy="703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Сравнение подходов к векторизации</a:t>
            </a:r>
            <a:endParaRPr lang="en" b="1" i="0" u="none" strike="noStrike" dirty="0">
              <a:effectLst/>
              <a:latin typeface="quote-cjk-patch"/>
            </a:endParaRPr>
          </a:p>
          <a:p>
            <a:endParaRPr lang="ru-RU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2FF64CB-1C39-1C90-3163-7E6A9D94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8463" y="2282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28258EAD-47B3-0F3C-B976-44D0CD0A1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622269"/>
              </p:ext>
            </p:extLst>
          </p:nvPr>
        </p:nvGraphicFramePr>
        <p:xfrm>
          <a:off x="1050151" y="1795964"/>
          <a:ext cx="8989290" cy="4351339"/>
        </p:xfrm>
        <a:graphic>
          <a:graphicData uri="http://schemas.openxmlformats.org/drawingml/2006/table">
            <a:tbl>
              <a:tblPr/>
              <a:tblGrid>
                <a:gridCol w="1921098">
                  <a:extLst>
                    <a:ext uri="{9D8B030D-6E8A-4147-A177-3AD203B41FA5}">
                      <a16:colId xmlns:a16="http://schemas.microsoft.com/office/drawing/2014/main" val="1953971015"/>
                    </a:ext>
                  </a:extLst>
                </a:gridCol>
                <a:gridCol w="2356064">
                  <a:extLst>
                    <a:ext uri="{9D8B030D-6E8A-4147-A177-3AD203B41FA5}">
                      <a16:colId xmlns:a16="http://schemas.microsoft.com/office/drawing/2014/main" val="4190827541"/>
                    </a:ext>
                  </a:extLst>
                </a:gridCol>
                <a:gridCol w="2356064">
                  <a:extLst>
                    <a:ext uri="{9D8B030D-6E8A-4147-A177-3AD203B41FA5}">
                      <a16:colId xmlns:a16="http://schemas.microsoft.com/office/drawing/2014/main" val="4239881599"/>
                    </a:ext>
                  </a:extLst>
                </a:gridCol>
                <a:gridCol w="2356064">
                  <a:extLst>
                    <a:ext uri="{9D8B030D-6E8A-4147-A177-3AD203B41FA5}">
                      <a16:colId xmlns:a16="http://schemas.microsoft.com/office/drawing/2014/main" val="4025263716"/>
                    </a:ext>
                  </a:extLst>
                </a:gridCol>
              </a:tblGrid>
              <a:tr h="397353">
                <a:tc>
                  <a:txBody>
                    <a:bodyPr/>
                    <a:lstStyle/>
                    <a:p>
                      <a:pPr algn="ctr"/>
                      <a:r>
                        <a:rPr lang="ru-RU" sz="1500" b="1" dirty="0">
                          <a:solidFill>
                            <a:schemeClr val="bg1"/>
                          </a:solidFill>
                          <a:effectLst/>
                        </a:rPr>
                        <a:t>Характеристика</a:t>
                      </a:r>
                    </a:p>
                  </a:txBody>
                  <a:tcPr marL="78168" marR="130280" marT="81425" marB="8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500" b="1">
                          <a:solidFill>
                            <a:schemeClr val="bg1"/>
                          </a:solidFill>
                          <a:effectLst/>
                        </a:rPr>
                        <a:t>TF-IDF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500" b="1">
                          <a:solidFill>
                            <a:schemeClr val="bg1"/>
                          </a:solidFill>
                          <a:effectLst/>
                        </a:rPr>
                        <a:t>Word2Vec / FastText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500" b="1" dirty="0">
                          <a:solidFill>
                            <a:schemeClr val="bg1"/>
                          </a:solidFill>
                          <a:effectLst/>
                        </a:rPr>
                        <a:t>BERT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719231"/>
                  </a:ext>
                </a:extLst>
              </a:tr>
              <a:tr h="631856">
                <a:tc>
                  <a:txBody>
                    <a:bodyPr/>
                    <a:lstStyle/>
                    <a:p>
                      <a:r>
                        <a:rPr lang="ru-RU" sz="1500" b="1">
                          <a:effectLst/>
                        </a:rPr>
                        <a:t>Тип векторов</a:t>
                      </a:r>
                      <a:endParaRPr lang="ru-RU" sz="1500">
                        <a:effectLst/>
                      </a:endParaRPr>
                    </a:p>
                  </a:txBody>
                  <a:tcPr marL="78168" marR="130280" marT="81425" marB="8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Разреженные (</a:t>
                      </a:r>
                      <a:r>
                        <a:rPr lang="en" sz="1500">
                          <a:effectLst/>
                        </a:rPr>
                        <a:t>sparse)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Плотные (</a:t>
                      </a:r>
                      <a:r>
                        <a:rPr lang="en" sz="1500">
                          <a:effectLst/>
                        </a:rPr>
                        <a:t>dense)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Плотные (</a:t>
                      </a:r>
                      <a:r>
                        <a:rPr lang="en" sz="1500">
                          <a:effectLst/>
                        </a:rPr>
                        <a:t>dense) + </a:t>
                      </a:r>
                      <a:r>
                        <a:rPr lang="ru-RU" sz="1500">
                          <a:effectLst/>
                        </a:rPr>
                        <a:t>позиционные</a:t>
                      </a:r>
                    </a:p>
                  </a:txBody>
                  <a:tcPr marL="130280" marR="78168" marT="81425" marB="814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2256"/>
                  </a:ext>
                </a:extLst>
              </a:tr>
              <a:tr h="397353">
                <a:tc>
                  <a:txBody>
                    <a:bodyPr/>
                    <a:lstStyle/>
                    <a:p>
                      <a:r>
                        <a:rPr lang="ru-RU" sz="1500" b="1">
                          <a:effectLst/>
                        </a:rPr>
                        <a:t>Размерность</a:t>
                      </a:r>
                      <a:endParaRPr lang="ru-RU" sz="1500">
                        <a:effectLst/>
                      </a:endParaRPr>
                    </a:p>
                  </a:txBody>
                  <a:tcPr marL="78168" marR="130280" marT="81425" marB="8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До 30 000 признаков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100-300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768</a:t>
                      </a:r>
                    </a:p>
                  </a:txBody>
                  <a:tcPr marL="130280" marR="78168" marT="81425" marB="814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387831"/>
                  </a:ext>
                </a:extLst>
              </a:tr>
              <a:tr h="631856">
                <a:tc>
                  <a:txBody>
                    <a:bodyPr/>
                    <a:lstStyle/>
                    <a:p>
                      <a:r>
                        <a:rPr lang="ru-RU" sz="1500" b="1">
                          <a:effectLst/>
                        </a:rPr>
                        <a:t>Учёт порядка слов</a:t>
                      </a:r>
                      <a:endParaRPr lang="ru-RU" sz="1500">
                        <a:effectLst/>
                      </a:endParaRPr>
                    </a:p>
                  </a:txBody>
                  <a:tcPr marL="78168" marR="130280" marT="81425" marB="8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Нет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Нет (усреднение)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Да (позиционные эмбеддинги)</a:t>
                      </a:r>
                    </a:p>
                  </a:txBody>
                  <a:tcPr marL="130280" marR="78168" marT="81425" marB="814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786111"/>
                  </a:ext>
                </a:extLst>
              </a:tr>
              <a:tr h="397353">
                <a:tc>
                  <a:txBody>
                    <a:bodyPr/>
                    <a:lstStyle/>
                    <a:p>
                      <a:r>
                        <a:rPr lang="ru-RU" sz="1500" b="1">
                          <a:effectLst/>
                        </a:rPr>
                        <a:t>Учёт контекста</a:t>
                      </a:r>
                      <a:endParaRPr lang="ru-RU" sz="1500">
                        <a:effectLst/>
                      </a:endParaRPr>
                    </a:p>
                  </a:txBody>
                  <a:tcPr marL="78168" marR="130280" marT="81425" marB="8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Нет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Нет (статический вектор)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Да (динамический)</a:t>
                      </a:r>
                    </a:p>
                  </a:txBody>
                  <a:tcPr marL="130280" marR="78168" marT="81425" marB="814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09589"/>
                  </a:ext>
                </a:extLst>
              </a:tr>
              <a:tr h="631856">
                <a:tc>
                  <a:txBody>
                    <a:bodyPr/>
                    <a:lstStyle/>
                    <a:p>
                      <a:r>
                        <a:rPr lang="ru-RU" sz="1500" b="1">
                          <a:effectLst/>
                        </a:rPr>
                        <a:t>Требования к данным</a:t>
                      </a:r>
                      <a:endParaRPr lang="ru-RU" sz="1500">
                        <a:effectLst/>
                      </a:endParaRPr>
                    </a:p>
                  </a:txBody>
                  <a:tcPr marL="78168" marR="130280" marT="81425" marB="8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Низкие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Средние (нужен большой корпус)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Высокие</a:t>
                      </a:r>
                    </a:p>
                  </a:txBody>
                  <a:tcPr marL="130280" marR="78168" marT="81425" marB="814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561263"/>
                  </a:ext>
                </a:extLst>
              </a:tr>
              <a:tr h="631856">
                <a:tc>
                  <a:txBody>
                    <a:bodyPr/>
                    <a:lstStyle/>
                    <a:p>
                      <a:r>
                        <a:rPr lang="ru-RU" sz="1500" b="1">
                          <a:effectLst/>
                        </a:rPr>
                        <a:t>Вычислительная сложность</a:t>
                      </a:r>
                      <a:endParaRPr lang="ru-RU" sz="1500">
                        <a:effectLst/>
                      </a:endParaRPr>
                    </a:p>
                  </a:txBody>
                  <a:tcPr marL="78168" marR="130280" marT="81425" marB="8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500">
                          <a:effectLst/>
                        </a:rPr>
                        <a:t>O(n)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500">
                          <a:effectLst/>
                        </a:rPr>
                        <a:t>O(n) </a:t>
                      </a:r>
                      <a:r>
                        <a:rPr lang="ru-RU" sz="1500">
                          <a:effectLst/>
                        </a:rPr>
                        <a:t>для инференса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500" dirty="0">
                          <a:effectLst/>
                        </a:rPr>
                        <a:t>O(n²) </a:t>
                      </a:r>
                      <a:r>
                        <a:rPr lang="ru-RU" sz="1500" dirty="0">
                          <a:effectLst/>
                        </a:rPr>
                        <a:t>из-за </a:t>
                      </a:r>
                      <a:r>
                        <a:rPr lang="en" sz="1500" dirty="0">
                          <a:effectLst/>
                        </a:rPr>
                        <a:t>attention</a:t>
                      </a:r>
                    </a:p>
                  </a:txBody>
                  <a:tcPr marL="130280" marR="78168" marT="81425" marB="814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9786126"/>
                  </a:ext>
                </a:extLst>
              </a:tr>
              <a:tr h="631856">
                <a:tc>
                  <a:txBody>
                    <a:bodyPr/>
                    <a:lstStyle/>
                    <a:p>
                      <a:r>
                        <a:rPr lang="ru-RU" sz="1500" b="1">
                          <a:effectLst/>
                        </a:rPr>
                        <a:t>Интерпретируемость</a:t>
                      </a:r>
                      <a:endParaRPr lang="ru-RU" sz="1500">
                        <a:effectLst/>
                      </a:endParaRPr>
                    </a:p>
                  </a:txBody>
                  <a:tcPr marL="78168" marR="130280" marT="81425" marB="8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Высокая (по весам слов)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Низкая</a:t>
                      </a:r>
                    </a:p>
                  </a:txBody>
                  <a:tcPr marL="130280" marR="130280" marT="81425" marB="814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Очень низкая</a:t>
                      </a:r>
                    </a:p>
                  </a:txBody>
                  <a:tcPr marL="130280" marR="78168" marT="81425" marB="814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285555"/>
                  </a:ext>
                </a:extLst>
              </a:tr>
            </a:tbl>
          </a:graphicData>
        </a:graphic>
      </p:graphicFrame>
      <p:sp>
        <p:nvSpPr>
          <p:cNvPr id="14" name="Rectangle 4">
            <a:extLst>
              <a:ext uri="{FF2B5EF4-FFF2-40B4-BE49-F238E27FC236}">
                <a16:creationId xmlns:a16="http://schemas.microsoft.com/office/drawing/2014/main" id="{3553BA75-B2F9-395A-7CF6-585440759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788" y="2282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153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239B216-F5ED-B348-A1BB-CE85242168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86A2D4-D42B-854C-9F3E-6A8095E580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8F0E61-4402-1545-ABC6-7EB156E5B9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Обзор моделей классификации</a:t>
            </a:r>
          </a:p>
          <a:p>
            <a:endParaRPr lang="ru-RU" dirty="0"/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8A0BE1BF-C6B7-7205-B7FD-5325C14D8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709724"/>
              </p:ext>
            </p:extLst>
          </p:nvPr>
        </p:nvGraphicFramePr>
        <p:xfrm>
          <a:off x="708619" y="1862843"/>
          <a:ext cx="8759473" cy="4482680"/>
        </p:xfrm>
        <a:graphic>
          <a:graphicData uri="http://schemas.openxmlformats.org/drawingml/2006/table">
            <a:tbl>
              <a:tblPr/>
              <a:tblGrid>
                <a:gridCol w="1871983">
                  <a:extLst>
                    <a:ext uri="{9D8B030D-6E8A-4147-A177-3AD203B41FA5}">
                      <a16:colId xmlns:a16="http://schemas.microsoft.com/office/drawing/2014/main" val="2224386960"/>
                    </a:ext>
                  </a:extLst>
                </a:gridCol>
                <a:gridCol w="2295830">
                  <a:extLst>
                    <a:ext uri="{9D8B030D-6E8A-4147-A177-3AD203B41FA5}">
                      <a16:colId xmlns:a16="http://schemas.microsoft.com/office/drawing/2014/main" val="2789548565"/>
                    </a:ext>
                  </a:extLst>
                </a:gridCol>
                <a:gridCol w="2295830">
                  <a:extLst>
                    <a:ext uri="{9D8B030D-6E8A-4147-A177-3AD203B41FA5}">
                      <a16:colId xmlns:a16="http://schemas.microsoft.com/office/drawing/2014/main" val="1339686503"/>
                    </a:ext>
                  </a:extLst>
                </a:gridCol>
                <a:gridCol w="2295830">
                  <a:extLst>
                    <a:ext uri="{9D8B030D-6E8A-4147-A177-3AD203B41FA5}">
                      <a16:colId xmlns:a16="http://schemas.microsoft.com/office/drawing/2014/main" val="1219920880"/>
                    </a:ext>
                  </a:extLst>
                </a:gridCol>
              </a:tblGrid>
              <a:tr h="244793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</a:rPr>
                        <a:t>Модель</a:t>
                      </a:r>
                    </a:p>
                  </a:txBody>
                  <a:tcPr marL="47126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</a:rPr>
                        <a:t>Суть метода</a:t>
                      </a:r>
                    </a:p>
                  </a:txBody>
                  <a:tcPr marL="78544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</a:rPr>
                        <a:t>Ключевые параметры</a:t>
                      </a:r>
                    </a:p>
                  </a:txBody>
                  <a:tcPr marL="78544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</a:rPr>
                        <a:t>Преимущества</a:t>
                      </a:r>
                    </a:p>
                  </a:txBody>
                  <a:tcPr marL="78544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024295"/>
                  </a:ext>
                </a:extLst>
              </a:tr>
              <a:tr h="1400540"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</a:rPr>
                        <a:t>Метод опорных векторов (</a:t>
                      </a:r>
                      <a:r>
                        <a:rPr lang="en" sz="1200" b="1">
                          <a:effectLst/>
                        </a:rPr>
                        <a:t>SVM)</a:t>
                      </a:r>
                      <a:endParaRPr lang="en" sz="1200">
                        <a:effectLst/>
                      </a:endParaRPr>
                    </a:p>
                  </a:txBody>
                  <a:tcPr marL="47126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Строит гиперплоскость, максимально разделяющую классы в пространстве признаков. Ищет оптимальную границу решения с максимальным зазором между классами.</a:t>
                      </a:r>
                    </a:p>
                  </a:txBody>
                  <a:tcPr marL="78544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• Линейное ядро</a:t>
                      </a:r>
                      <a:br>
                        <a:rPr lang="ru-RU" sz="1200">
                          <a:effectLst/>
                        </a:rPr>
                      </a:br>
                      <a:r>
                        <a:rPr lang="ru-RU" sz="1200">
                          <a:effectLst/>
                        </a:rPr>
                        <a:t>• Балансировка классов (</a:t>
                      </a:r>
                      <a:r>
                        <a:rPr lang="en" sz="1200">
                          <a:effectLst/>
                        </a:rPr>
                        <a:t>class_weight='balanced')</a:t>
                      </a:r>
                    </a:p>
                  </a:txBody>
                  <a:tcPr marL="78544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• Эффективен в высокоразмерных разреженных пространствах (</a:t>
                      </a:r>
                      <a:r>
                        <a:rPr lang="en" sz="1200">
                          <a:effectLst/>
                        </a:rPr>
                        <a:t>TF-IDF)</a:t>
                      </a:r>
                      <a:br>
                        <a:rPr lang="en" sz="1200">
                          <a:effectLst/>
                        </a:rPr>
                      </a:br>
                      <a:r>
                        <a:rPr lang="en" sz="1200">
                          <a:effectLst/>
                        </a:rPr>
                        <a:t>• </a:t>
                      </a:r>
                      <a:r>
                        <a:rPr lang="ru-RU" sz="1200">
                          <a:effectLst/>
                        </a:rPr>
                        <a:t>Устойчив к переобучению</a:t>
                      </a:r>
                      <a:br>
                        <a:rPr lang="ru-RU" sz="1200">
                          <a:effectLst/>
                        </a:rPr>
                      </a:br>
                      <a:r>
                        <a:rPr lang="ru-RU" sz="1200">
                          <a:effectLst/>
                        </a:rPr>
                        <a:t>• Высокая точность при небольших вычислительных затратах</a:t>
                      </a:r>
                    </a:p>
                  </a:txBody>
                  <a:tcPr marL="78544" marR="47126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070388"/>
                  </a:ext>
                </a:extLst>
              </a:tr>
              <a:tr h="1400540">
                <a:tc>
                  <a:txBody>
                    <a:bodyPr/>
                    <a:lstStyle/>
                    <a:p>
                      <a:r>
                        <a:rPr lang="ru-RU" sz="1200" b="1" dirty="0">
                          <a:effectLst/>
                        </a:rPr>
                        <a:t>Случайный лес (</a:t>
                      </a:r>
                      <a:r>
                        <a:rPr lang="en" sz="1200" b="1" dirty="0">
                          <a:effectLst/>
                        </a:rPr>
                        <a:t>Random Forest)</a:t>
                      </a:r>
                      <a:endParaRPr lang="en" sz="1200" dirty="0">
                        <a:effectLst/>
                      </a:endParaRPr>
                    </a:p>
                  </a:txBody>
                  <a:tcPr marL="47126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Ансамблевый метод: строит множество решающих деревьев на случайных подвыборках данных и случайных подмножествах признаков. Итоговое решение принимается большинством голосов.</a:t>
                      </a:r>
                    </a:p>
                  </a:txBody>
                  <a:tcPr marL="78544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• 100 деревьев (</a:t>
                      </a:r>
                      <a:r>
                        <a:rPr lang="en" sz="1200">
                          <a:effectLst/>
                        </a:rPr>
                        <a:t>n_estimators)</a:t>
                      </a:r>
                      <a:br>
                        <a:rPr lang="en" sz="1200">
                          <a:effectLst/>
                        </a:rPr>
                      </a:br>
                      <a:r>
                        <a:rPr lang="en" sz="1200">
                          <a:effectLst/>
                        </a:rPr>
                        <a:t>• </a:t>
                      </a:r>
                      <a:r>
                        <a:rPr lang="ru-RU" sz="1200">
                          <a:effectLst/>
                        </a:rPr>
                        <a:t>Глубина 20 (</a:t>
                      </a:r>
                      <a:r>
                        <a:rPr lang="en" sz="1200">
                          <a:effectLst/>
                        </a:rPr>
                        <a:t>max_depth)</a:t>
                      </a:r>
                      <a:br>
                        <a:rPr lang="en" sz="1200">
                          <a:effectLst/>
                        </a:rPr>
                      </a:br>
                      <a:r>
                        <a:rPr lang="en" sz="1200">
                          <a:effectLst/>
                        </a:rPr>
                        <a:t>• </a:t>
                      </a:r>
                      <a:r>
                        <a:rPr lang="ru-RU" sz="1200">
                          <a:effectLst/>
                        </a:rPr>
                        <a:t>Балансировка классов</a:t>
                      </a:r>
                      <a:br>
                        <a:rPr lang="ru-RU" sz="1200">
                          <a:effectLst/>
                        </a:rPr>
                      </a:br>
                      <a:r>
                        <a:rPr lang="ru-RU" sz="1200">
                          <a:effectLst/>
                        </a:rPr>
                        <a:t>• Использование всех ядер </a:t>
                      </a:r>
                      <a:r>
                        <a:rPr lang="en" sz="1200">
                          <a:effectLst/>
                        </a:rPr>
                        <a:t>CPU</a:t>
                      </a:r>
                    </a:p>
                  </a:txBody>
                  <a:tcPr marL="78544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• Устойчив к переобучению за счёт усреднения</a:t>
                      </a:r>
                      <a:br>
                        <a:rPr lang="ru-RU" sz="1200" dirty="0">
                          <a:effectLst/>
                        </a:rPr>
                      </a:br>
                      <a:r>
                        <a:rPr lang="ru-RU" sz="1200" dirty="0">
                          <a:effectLst/>
                        </a:rPr>
                        <a:t>• Позволяет оценить важность признаков</a:t>
                      </a:r>
                      <a:br>
                        <a:rPr lang="ru-RU" sz="1200" dirty="0">
                          <a:effectLst/>
                        </a:rPr>
                      </a:br>
                      <a:r>
                        <a:rPr lang="ru-RU" sz="1200" dirty="0">
                          <a:effectLst/>
                        </a:rPr>
                        <a:t>• Хорошо работает с </a:t>
                      </a:r>
                      <a:r>
                        <a:rPr lang="ru-RU" sz="1200" dirty="0" err="1">
                          <a:effectLst/>
                        </a:rPr>
                        <a:t>высокоразмерными</a:t>
                      </a:r>
                      <a:r>
                        <a:rPr lang="ru-RU" sz="1200" dirty="0">
                          <a:effectLst/>
                        </a:rPr>
                        <a:t> данными</a:t>
                      </a:r>
                    </a:p>
                  </a:txBody>
                  <a:tcPr marL="78544" marR="47126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45361"/>
                  </a:ext>
                </a:extLst>
              </a:tr>
              <a:tr h="1400540"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</a:rPr>
                        <a:t>Решающее дерево (</a:t>
                      </a:r>
                      <a:r>
                        <a:rPr lang="en" sz="1200" b="1">
                          <a:effectLst/>
                        </a:rPr>
                        <a:t>Decision Tree)</a:t>
                      </a:r>
                      <a:endParaRPr lang="en" sz="1200">
                        <a:effectLst/>
                      </a:endParaRPr>
                    </a:p>
                  </a:txBody>
                  <a:tcPr marL="47126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Рекурсивное разбиение пространства признаков на основе проверки наличия ключевых слов. Каждый внутренний узел — вопрос о признаке, каждый лист — решение о тональности.</a:t>
                      </a:r>
                    </a:p>
                  </a:txBody>
                  <a:tcPr marL="78544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• Глубина 20 (</a:t>
                      </a:r>
                      <a:r>
                        <a:rPr lang="en" sz="1200" dirty="0" err="1">
                          <a:effectLst/>
                        </a:rPr>
                        <a:t>max_depth</a:t>
                      </a:r>
                      <a:r>
                        <a:rPr lang="en" sz="1200" dirty="0">
                          <a:effectLst/>
                        </a:rPr>
                        <a:t>)</a:t>
                      </a:r>
                      <a:br>
                        <a:rPr lang="en" sz="1200" dirty="0">
                          <a:effectLst/>
                        </a:rPr>
                      </a:br>
                      <a:r>
                        <a:rPr lang="en" sz="1200" dirty="0">
                          <a:effectLst/>
                        </a:rPr>
                        <a:t>• </a:t>
                      </a:r>
                      <a:r>
                        <a:rPr lang="ru-RU" sz="1200" dirty="0">
                          <a:effectLst/>
                        </a:rPr>
                        <a:t>Балансировка классов</a:t>
                      </a:r>
                      <a:br>
                        <a:rPr lang="ru-RU" sz="1200" dirty="0">
                          <a:effectLst/>
                        </a:rPr>
                      </a:br>
                      <a:r>
                        <a:rPr lang="ru-RU" sz="1200" dirty="0">
                          <a:effectLst/>
                        </a:rPr>
                        <a:t>• Критерий ветвления — энтропия или индекс Джини</a:t>
                      </a:r>
                    </a:p>
                  </a:txBody>
                  <a:tcPr marL="78544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• Высокая интерпретируемость — правила классификации можно визуализировать</a:t>
                      </a:r>
                      <a:br>
                        <a:rPr lang="ru-RU" sz="1200" dirty="0">
                          <a:effectLst/>
                        </a:rPr>
                      </a:br>
                      <a:r>
                        <a:rPr lang="ru-RU" sz="1200" dirty="0">
                          <a:effectLst/>
                        </a:rPr>
                        <a:t>• Не требует масштабирования признаков</a:t>
                      </a:r>
                      <a:br>
                        <a:rPr lang="ru-RU" sz="1200" dirty="0">
                          <a:effectLst/>
                        </a:rPr>
                      </a:br>
                      <a:r>
                        <a:rPr lang="ru-RU" sz="1200" dirty="0">
                          <a:effectLst/>
                        </a:rPr>
                        <a:t>• Простота реализации</a:t>
                      </a:r>
                    </a:p>
                  </a:txBody>
                  <a:tcPr marL="78544" marR="47126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648661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A7D71AEC-14F8-1D63-D0F9-72D768610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19" y="1126441"/>
            <a:ext cx="3642728" cy="601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1" i="0" u="none" strike="noStrike" cap="none" normalizeH="0" baseline="0" dirty="0">
                <a:ln>
                  <a:noFill/>
                </a:ln>
                <a:solidFill>
                  <a:srgbClr val="0E2D69"/>
                </a:solidFill>
                <a:effectLst/>
                <a:latin typeface="quote-cjk-patch"/>
              </a:rPr>
              <a:t>МОДЕЛИ КЛАССИФИКАЦИИ ТОНАЛЬНОСТИ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B126B1B-CB86-DAF1-D80C-3B61C227D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6138" y="2282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159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79B934C-D7E2-DD48-BCA2-BCD2E21D6C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>
              <a:solidFill>
                <a:srgbClr val="F2F2F2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654682-36D6-CD40-8608-A97244D286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43567B-6E74-9542-8F9A-1A48CBB738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Обзор моделей классификации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8204F7D-250B-3E40-B4D7-7CC3EB67E9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1800" b="1" dirty="0"/>
              <a:t>BERT</a:t>
            </a:r>
            <a:endParaRPr lang="ru-RU" sz="1800" b="1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FADCD59D-8CFC-45D9-FD2D-D71A423CD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777905"/>
              </p:ext>
            </p:extLst>
          </p:nvPr>
        </p:nvGraphicFramePr>
        <p:xfrm>
          <a:off x="450876" y="1783414"/>
          <a:ext cx="5510213" cy="4751067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323567">
                  <a:extLst>
                    <a:ext uri="{9D8B030D-6E8A-4147-A177-3AD203B41FA5}">
                      <a16:colId xmlns:a16="http://schemas.microsoft.com/office/drawing/2014/main" val="2445983369"/>
                    </a:ext>
                  </a:extLst>
                </a:gridCol>
                <a:gridCol w="1493413">
                  <a:extLst>
                    <a:ext uri="{9D8B030D-6E8A-4147-A177-3AD203B41FA5}">
                      <a16:colId xmlns:a16="http://schemas.microsoft.com/office/drawing/2014/main" val="169296559"/>
                    </a:ext>
                  </a:extLst>
                </a:gridCol>
                <a:gridCol w="2693233">
                  <a:extLst>
                    <a:ext uri="{9D8B030D-6E8A-4147-A177-3AD203B41FA5}">
                      <a16:colId xmlns:a16="http://schemas.microsoft.com/office/drawing/2014/main" val="3170441618"/>
                    </a:ext>
                  </a:extLst>
                </a:gridCol>
              </a:tblGrid>
              <a:tr h="731477">
                <a:tc>
                  <a:txBody>
                    <a:bodyPr/>
                    <a:lstStyle/>
                    <a:p>
                      <a:pPr indent="0" algn="ctr"/>
                      <a:r>
                        <a:rPr lang="ru-RU" sz="1400" b="1">
                          <a:solidFill>
                            <a:schemeClr val="bg1"/>
                          </a:solidFill>
                          <a:effectLst/>
                        </a:rPr>
                        <a:t>Модель</a:t>
                      </a:r>
                      <a:endParaRPr lang="ru-RU" sz="1050" b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7445" marT="73403" marB="7340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Разработчик</a:t>
                      </a:r>
                      <a:endParaRPr lang="ru-RU" sz="105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45" marR="117445" marT="73403" marB="7340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Особенности</a:t>
                      </a:r>
                      <a:endParaRPr lang="ru-RU" sz="105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45" marR="117445" marT="73403" marB="7340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535112"/>
                  </a:ext>
                </a:extLst>
              </a:tr>
              <a:tr h="1112255">
                <a:tc>
                  <a:txBody>
                    <a:bodyPr/>
                    <a:lstStyle/>
                    <a:p>
                      <a:pPr indent="0" algn="l"/>
                      <a:r>
                        <a:rPr lang="ru-RU" sz="1400">
                          <a:effectLst/>
                        </a:rPr>
                        <a:t>RuBERT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7445" marT="73403" marB="734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0" algn="l"/>
                      <a:r>
                        <a:rPr lang="ru-RU" sz="1400">
                          <a:effectLst/>
                        </a:rPr>
                        <a:t>DeepPavlov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45" marR="117445" marT="73403" marB="7340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indent="0" algn="l"/>
                      <a:r>
                        <a:rPr lang="ru-RU" sz="1400" dirty="0">
                          <a:effectLst/>
                        </a:rPr>
                        <a:t>Обучен на русскоязычных корпусах (новости, Википедия, художественная литература)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45" marR="0" marT="73403" marB="7340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17710335"/>
                  </a:ext>
                </a:extLst>
              </a:tr>
              <a:tr h="789528">
                <a:tc>
                  <a:txBody>
                    <a:bodyPr/>
                    <a:lstStyle/>
                    <a:p>
                      <a:pPr indent="0" algn="l"/>
                      <a:r>
                        <a:rPr lang="ru-RU" sz="1400">
                          <a:effectLst/>
                        </a:rPr>
                        <a:t>RuRoBERTa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7445" marT="73403" marB="734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indent="0" algn="l"/>
                      <a:r>
                        <a:rPr lang="ru-RU" sz="1400">
                          <a:effectLst/>
                        </a:rPr>
                        <a:t>SberDevices / Russian SuperGLUE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45" marR="117445" marT="73403" marB="73403" anchor="ctr"/>
                </a:tc>
                <a:tc>
                  <a:txBody>
                    <a:bodyPr/>
                    <a:lstStyle/>
                    <a:p>
                      <a:pPr indent="0" algn="l"/>
                      <a:r>
                        <a:rPr lang="ru-RU" sz="1400">
                          <a:effectLst/>
                        </a:rPr>
                        <a:t>Улучшенная архитектура, более высокая точность на русском языке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45" marR="0" marT="73403" marB="7340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81709422"/>
                  </a:ext>
                </a:extLst>
              </a:tr>
              <a:tr h="1166915">
                <a:tc>
                  <a:txBody>
                    <a:bodyPr/>
                    <a:lstStyle/>
                    <a:p>
                      <a:pPr indent="0" algn="l"/>
                      <a:r>
                        <a:rPr lang="ru-RU" sz="1400">
                          <a:effectLst/>
                        </a:rPr>
                        <a:t>rubert-tiny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7445" marT="73403" marB="734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indent="0" algn="l"/>
                      <a:r>
                        <a:rPr lang="ru-RU" sz="1400">
                          <a:effectLst/>
                        </a:rPr>
                        <a:t>DeepPavlov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45" marR="117445" marT="73403" marB="73403" anchor="ctr"/>
                </a:tc>
                <a:tc>
                  <a:txBody>
                    <a:bodyPr/>
                    <a:lstStyle/>
                    <a:p>
                      <a:pPr indent="0" algn="l"/>
                      <a:r>
                        <a:rPr lang="ru-RU" sz="1400">
                          <a:effectLst/>
                        </a:rPr>
                        <a:t>Легковесная версия (2 слоя, 163 токена) для задач с ограниченными вычислительными ресурсами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45" marR="0" marT="73403" marB="7340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53192639"/>
                  </a:ext>
                </a:extLst>
              </a:tr>
              <a:tr h="950892">
                <a:tc>
                  <a:txBody>
                    <a:bodyPr/>
                    <a:lstStyle/>
                    <a:p>
                      <a:pPr indent="0" algn="l"/>
                      <a:r>
                        <a:rPr lang="ru-RU" sz="1400" dirty="0" err="1">
                          <a:effectLst/>
                        </a:rPr>
                        <a:t>LaBSE</a:t>
                      </a:r>
                      <a:r>
                        <a:rPr lang="ru-RU" sz="1400" dirty="0">
                          <a:effectLst/>
                        </a:rPr>
                        <a:t> (</a:t>
                      </a:r>
                      <a:r>
                        <a:rPr lang="ru-RU" sz="1400" dirty="0" err="1">
                          <a:effectLst/>
                        </a:rPr>
                        <a:t>multilingual</a:t>
                      </a:r>
                      <a:r>
                        <a:rPr lang="ru-RU" sz="1400" dirty="0">
                          <a:effectLst/>
                        </a:rPr>
                        <a:t>)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7445" marT="73403" marB="734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/>
                      <a:r>
                        <a:rPr lang="ru-RU" sz="1400">
                          <a:effectLst/>
                        </a:rPr>
                        <a:t>Google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45" marR="117445" marT="73403" marB="7340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/>
                      <a:r>
                        <a:rPr lang="ru-RU" sz="1400" dirty="0">
                          <a:effectLst/>
                        </a:rPr>
                        <a:t>Поддерживает 109 языков, включая русский, оптимизирован для кросс-языковых задач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445" marR="0" marT="73403" marB="7340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6981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30CEFB5-6F44-5226-58A5-3AFBB7AB1579}"/>
              </a:ext>
            </a:extLst>
          </p:cNvPr>
          <p:cNvSpPr txBox="1"/>
          <p:nvPr/>
        </p:nvSpPr>
        <p:spPr>
          <a:xfrm>
            <a:off x="6091004" y="1783414"/>
            <a:ext cx="61009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E2D69"/>
                </a:solidFill>
                <a:effectLst/>
                <a:latin typeface="+mj-lt"/>
              </a:rPr>
              <a:t>Модель </a:t>
            </a:r>
            <a:r>
              <a:rPr lang="en" b="0" i="0" dirty="0">
                <a:solidFill>
                  <a:srgbClr val="0E2D69"/>
                </a:solidFill>
                <a:effectLst/>
                <a:latin typeface="+mj-lt"/>
              </a:rPr>
              <a:t>BERT </a:t>
            </a:r>
            <a:r>
              <a:rPr lang="ru-RU" b="0" i="0" dirty="0">
                <a:solidFill>
                  <a:srgbClr val="0E2D69"/>
                </a:solidFill>
                <a:effectLst/>
                <a:latin typeface="+mj-lt"/>
              </a:rPr>
              <a:t>основана на</a:t>
            </a:r>
            <a:r>
              <a:rPr lang="ru-RU" b="1" i="0" dirty="0">
                <a:solidFill>
                  <a:srgbClr val="0E2D69"/>
                </a:solidFill>
                <a:effectLst/>
                <a:latin typeface="+mj-lt"/>
              </a:rPr>
              <a:t> трансформере —</a:t>
            </a:r>
            <a:r>
              <a:rPr lang="ru-RU" b="0" i="0" dirty="0">
                <a:solidFill>
                  <a:srgbClr val="0E2D69"/>
                </a:solidFill>
                <a:effectLst/>
                <a:latin typeface="+mj-lt"/>
              </a:rPr>
              <a:t> </a:t>
            </a:r>
            <a:r>
              <a:rPr lang="ru-RU" b="0" i="0" dirty="0" err="1">
                <a:solidFill>
                  <a:srgbClr val="0E2D69"/>
                </a:solidFill>
                <a:effectLst/>
                <a:latin typeface="+mj-lt"/>
              </a:rPr>
              <a:t>нейросетевой</a:t>
            </a:r>
            <a:r>
              <a:rPr lang="ru-RU" b="0" i="0" dirty="0">
                <a:solidFill>
                  <a:srgbClr val="0E2D69"/>
                </a:solidFill>
                <a:effectLst/>
                <a:latin typeface="+mj-lt"/>
              </a:rPr>
              <a:t> архитектуре, которая использует </a:t>
            </a:r>
            <a:r>
              <a:rPr lang="ru-RU" b="1" i="0" dirty="0">
                <a:solidFill>
                  <a:srgbClr val="0E2D69"/>
                </a:solidFill>
                <a:effectLst/>
                <a:latin typeface="+mj-lt"/>
              </a:rPr>
              <a:t>механизм внимания</a:t>
            </a:r>
            <a:r>
              <a:rPr lang="ru-RU" b="0" i="0" dirty="0">
                <a:solidFill>
                  <a:srgbClr val="0E2D69"/>
                </a:solidFill>
                <a:effectLst/>
                <a:latin typeface="+mj-lt"/>
              </a:rPr>
              <a:t> для анализа и понимания текста.</a:t>
            </a:r>
            <a:endParaRPr lang="en-US" b="0" i="0" dirty="0">
              <a:solidFill>
                <a:srgbClr val="0E2D69"/>
              </a:solidFill>
              <a:effectLst/>
              <a:latin typeface="+mj-lt"/>
            </a:endParaRPr>
          </a:p>
          <a:p>
            <a:pPr algn="ctr"/>
            <a:r>
              <a:rPr lang="en" b="1" dirty="0">
                <a:solidFill>
                  <a:srgbClr val="0E2D69"/>
                </a:solidFill>
              </a:rPr>
              <a:t>M</a:t>
            </a:r>
            <a:r>
              <a:rPr lang="en" b="1" i="0" dirty="0">
                <a:solidFill>
                  <a:srgbClr val="0E2D69"/>
                </a:solidFill>
                <a:effectLst/>
              </a:rPr>
              <a:t>ulti-head attention</a:t>
            </a:r>
            <a:endParaRPr lang="ru-RU" dirty="0">
              <a:solidFill>
                <a:srgbClr val="0E2D69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523C166-59F2-B53C-6E7C-CB9FE3F87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420" y="3012314"/>
            <a:ext cx="2689376" cy="345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011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89DE17A-284C-2E41-93C3-9200CA02CA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78241C-36DA-AB4E-9AD3-95F879081C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3F95F2-80C6-8C4D-9EEF-1B0C6D5074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Анализ данных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9146A8-906F-D549-86C7-8070DF7723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b="1" dirty="0"/>
              <a:t>Описание представленного </a:t>
            </a:r>
            <a:r>
              <a:rPr lang="ru-RU" b="1" dirty="0" err="1"/>
              <a:t>датасета</a:t>
            </a:r>
            <a:endParaRPr lang="ru-RU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F3F927-A6BD-FD34-5479-6D3AB454A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939" y="2359105"/>
            <a:ext cx="7772400" cy="2908785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5E1C6FBC-4D80-1A4A-974A-8D8B40DD35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268" y="1984074"/>
            <a:ext cx="3093646" cy="3380085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Данные: отзывы из </a:t>
            </a:r>
            <a:r>
              <a:rPr lang="ru-RU" dirty="0" err="1"/>
              <a:t>Яндекс.Карт</a:t>
            </a:r>
            <a:r>
              <a:rPr lang="ru-RU" dirty="0"/>
              <a:t> и 2Гис на ПВЗ </a:t>
            </a:r>
            <a:r>
              <a:rPr lang="ru-RU" dirty="0" err="1"/>
              <a:t>O</a:t>
            </a:r>
            <a:r>
              <a:rPr lang="en-US" dirty="0" err="1"/>
              <a:t>zon</a:t>
            </a:r>
            <a:endParaRPr lang="ru-RU" dirty="0"/>
          </a:p>
          <a:p>
            <a:r>
              <a:rPr lang="ru-RU" dirty="0"/>
              <a:t>Размер:</a:t>
            </a:r>
          </a:p>
          <a:p>
            <a:r>
              <a:rPr lang="ru-RU" dirty="0"/>
              <a:t>Строк 179</a:t>
            </a:r>
            <a:r>
              <a:rPr lang="en-US" dirty="0"/>
              <a:t> </a:t>
            </a:r>
            <a:r>
              <a:rPr lang="ru-RU" dirty="0"/>
              <a:t>441</a:t>
            </a:r>
          </a:p>
          <a:p>
            <a:r>
              <a:rPr lang="ru-RU" dirty="0"/>
              <a:t>Столбцов</a:t>
            </a:r>
            <a:r>
              <a:rPr lang="en-US" dirty="0"/>
              <a:t> - </a:t>
            </a:r>
            <a:r>
              <a:rPr lang="ru-RU" dirty="0"/>
              <a:t>6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ru-RU" dirty="0"/>
              <a:t>Дата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ru-RU" dirty="0"/>
              <a:t>Страна</a:t>
            </a:r>
          </a:p>
          <a:p>
            <a:pPr marL="285750" indent="-285750">
              <a:buFontTx/>
              <a:buChar char="-"/>
            </a:pPr>
            <a:r>
              <a:rPr lang="ru-RU" dirty="0"/>
              <a:t>Город</a:t>
            </a:r>
          </a:p>
          <a:p>
            <a:pPr marL="285750" indent="-285750">
              <a:buFontTx/>
              <a:buChar char="-"/>
            </a:pPr>
            <a:r>
              <a:rPr lang="ru-RU" dirty="0"/>
              <a:t>Улица</a:t>
            </a:r>
          </a:p>
          <a:p>
            <a:pPr marL="285750" indent="-285750">
              <a:buFontTx/>
              <a:buChar char="-"/>
            </a:pPr>
            <a:r>
              <a:rPr lang="ru-RU" dirty="0"/>
              <a:t>Дом</a:t>
            </a:r>
          </a:p>
          <a:p>
            <a:pPr marL="285750" indent="-285750">
              <a:buFontTx/>
              <a:buChar char="-"/>
            </a:pPr>
            <a:r>
              <a:rPr lang="ru-RU" dirty="0"/>
              <a:t>Комментарий</a:t>
            </a:r>
            <a:endParaRPr lang="en-US" dirty="0"/>
          </a:p>
          <a:p>
            <a:r>
              <a:rPr lang="ru-RU" dirty="0"/>
              <a:t>Данные представлены по </a:t>
            </a:r>
            <a:r>
              <a:rPr lang="en-US" dirty="0"/>
              <a:t>47 395 </a:t>
            </a:r>
            <a:r>
              <a:rPr lang="ru-RU" dirty="0"/>
              <a:t>ПВЗ из 5 264 городов России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831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7082465-FB0D-558B-EA60-B33AE9DC13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427E34-576B-E4E0-0A1A-02EDD05B15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9B05A-F9FF-73DC-0425-B13CF270C4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Анализ данных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C8E704-4992-3C5B-39DB-6277C90F29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3096" y="1225335"/>
            <a:ext cx="7617877" cy="537011"/>
          </a:xfrm>
        </p:spPr>
        <p:txBody>
          <a:bodyPr/>
          <a:lstStyle/>
          <a:p>
            <a:r>
              <a:rPr lang="ru-RU" sz="2800" b="1" dirty="0"/>
              <a:t>Анализ текста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2FDAE6-222A-DD31-DA6D-9991DCBCD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63" y="1820544"/>
            <a:ext cx="6874479" cy="459846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F4D6A4-B811-6307-2D0E-F3FF7EF8F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942" y="1820544"/>
            <a:ext cx="2374900" cy="4572000"/>
          </a:xfrm>
          <a:prstGeom prst="rect">
            <a:avLst/>
          </a:prstGeom>
        </p:spPr>
      </p:pic>
      <p:sp>
        <p:nvSpPr>
          <p:cNvPr id="8" name="Текст 4">
            <a:extLst>
              <a:ext uri="{FF2B5EF4-FFF2-40B4-BE49-F238E27FC236}">
                <a16:creationId xmlns:a16="http://schemas.microsoft.com/office/drawing/2014/main" id="{3C285898-16D7-7A1F-CD5B-731DA644075A}"/>
              </a:ext>
            </a:extLst>
          </p:cNvPr>
          <p:cNvSpPr txBox="1">
            <a:spLocks/>
          </p:cNvSpPr>
          <p:nvPr/>
        </p:nvSpPr>
        <p:spPr>
          <a:xfrm>
            <a:off x="8100973" y="1552038"/>
            <a:ext cx="1671561" cy="5370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Топ-20 слов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B66C53D1-396F-6EE7-EA98-C1F05CFBA5AF}"/>
              </a:ext>
            </a:extLst>
          </p:cNvPr>
          <p:cNvSpPr txBox="1">
            <a:spLocks/>
          </p:cNvSpPr>
          <p:nvPr/>
        </p:nvSpPr>
        <p:spPr>
          <a:xfrm>
            <a:off x="9483634" y="1833778"/>
            <a:ext cx="2531358" cy="3926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ru-RU" dirty="0"/>
              <a:t>«Не» – наиболее популярное слово, что может говорить о большом количестве негативных комментариев</a:t>
            </a:r>
          </a:p>
          <a:p>
            <a:pPr marL="285750" indent="-285750">
              <a:buFontTx/>
              <a:buChar char="-"/>
            </a:pPr>
            <a:r>
              <a:rPr lang="ru-RU" dirty="0"/>
              <a:t>«сотрудник»/«персонал» - главный персонаж комментариев</a:t>
            </a:r>
          </a:p>
          <a:p>
            <a:pPr marL="285750" indent="-285750">
              <a:buFontTx/>
              <a:buChar char="-"/>
            </a:pPr>
            <a:r>
              <a:rPr lang="ru-RU" dirty="0"/>
              <a:t>«приятный»/ «вежливый» - сильные слова для положительной тональности</a:t>
            </a:r>
          </a:p>
          <a:p>
            <a:pPr marL="285750" indent="-285750">
              <a:buFontTx/>
              <a:buChar char="-"/>
            </a:pPr>
            <a:r>
              <a:rPr lang="ru-RU" dirty="0"/>
              <a:t>«очередь» - указывает на проблему скорости обслуживания</a:t>
            </a:r>
          </a:p>
        </p:txBody>
      </p:sp>
    </p:spTree>
    <p:extLst>
      <p:ext uri="{BB962C8B-B14F-4D97-AF65-F5344CB8AC3E}">
        <p14:creationId xmlns:p14="http://schemas.microsoft.com/office/powerpoint/2010/main" val="1952903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FFBD88B-BF2A-8F44-B648-677BB7D975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6DFA47-ACB8-5246-AC9C-19D438CF65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A5DD86-C5F3-5843-B60F-AC26E1B16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Разметка текста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060AA73-8574-054A-B94B-1EAA5FAB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9" y="1168240"/>
            <a:ext cx="4322530" cy="777025"/>
          </a:xfrm>
        </p:spPr>
        <p:txBody>
          <a:bodyPr/>
          <a:lstStyle/>
          <a:p>
            <a:r>
              <a:rPr lang="ru-RU" b="1" dirty="0"/>
              <a:t>Разметка данных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4F67C03-69F9-1545-97DC-7A7E8768AD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85208" y="1920879"/>
            <a:ext cx="2990441" cy="466860"/>
          </a:xfrm>
        </p:spPr>
        <p:txBody>
          <a:bodyPr>
            <a:noAutofit/>
          </a:bodyPr>
          <a:lstStyle/>
          <a:p>
            <a:pPr algn="l"/>
            <a:r>
              <a:rPr lang="ru-RU" sz="1600" b="1" i="0" u="none" strike="noStrike" dirty="0">
                <a:effectLst/>
                <a:latin typeface="+mn-lt"/>
              </a:rPr>
              <a:t>Выбранный подход для ВКР: </a:t>
            </a:r>
            <a:r>
              <a:rPr lang="ru-RU" sz="1600" b="1" i="1" u="none" strike="noStrike" dirty="0">
                <a:effectLst/>
                <a:latin typeface="+mn-lt"/>
              </a:rPr>
              <a:t>комбинированный</a:t>
            </a:r>
            <a:endParaRPr lang="ru-RU" sz="1600" b="0" i="1" u="none" strike="noStrike" dirty="0">
              <a:effectLst/>
              <a:latin typeface="+mn-lt"/>
            </a:endParaRPr>
          </a:p>
          <a:p>
            <a:pPr marL="285750" indent="-285750" algn="l">
              <a:buFontTx/>
              <a:buChar char="-"/>
            </a:pPr>
            <a:r>
              <a:rPr lang="ru-RU" sz="1600" b="0" i="0" u="none" strike="noStrike" dirty="0">
                <a:effectLst/>
                <a:latin typeface="+mn-lt"/>
              </a:rPr>
              <a:t>Первичная автоматическая разметка (алгоритм на основе словарей и правил) </a:t>
            </a:r>
          </a:p>
          <a:p>
            <a:pPr marL="285750" indent="-285750" algn="l">
              <a:buFontTx/>
              <a:buChar char="-"/>
            </a:pPr>
            <a:r>
              <a:rPr lang="ru-RU" sz="1600" b="0" i="0" u="none" strike="noStrike" dirty="0">
                <a:effectLst/>
                <a:latin typeface="+mn-lt"/>
              </a:rPr>
              <a:t>Ручная верификация выборки: </a:t>
            </a:r>
            <a:r>
              <a:rPr lang="ru-RU" sz="1600" b="1" i="0" u="none" strike="noStrike" dirty="0">
                <a:effectLst/>
                <a:latin typeface="+mn-lt"/>
              </a:rPr>
              <a:t>20% (35 902 комментария)</a:t>
            </a:r>
            <a:r>
              <a:rPr lang="ru-RU" sz="1600" b="0" i="0" u="none" strike="noStrike" dirty="0">
                <a:effectLst/>
                <a:latin typeface="+mn-lt"/>
              </a:rPr>
              <a:t> с корректировкой</a:t>
            </a:r>
          </a:p>
          <a:p>
            <a:endParaRPr lang="ru-RU" sz="1600" dirty="0">
              <a:latin typeface="+mn-lt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7DE06865-296E-D6A9-7065-CAA967EA0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355706"/>
              </p:ext>
            </p:extLst>
          </p:nvPr>
        </p:nvGraphicFramePr>
        <p:xfrm>
          <a:off x="585900" y="1730372"/>
          <a:ext cx="8092274" cy="4351338"/>
        </p:xfrm>
        <a:graphic>
          <a:graphicData uri="http://schemas.openxmlformats.org/drawingml/2006/table">
            <a:tbl>
              <a:tblPr/>
              <a:tblGrid>
                <a:gridCol w="1563068">
                  <a:extLst>
                    <a:ext uri="{9D8B030D-6E8A-4147-A177-3AD203B41FA5}">
                      <a16:colId xmlns:a16="http://schemas.microsoft.com/office/drawing/2014/main" val="2829454787"/>
                    </a:ext>
                  </a:extLst>
                </a:gridCol>
                <a:gridCol w="2630362">
                  <a:extLst>
                    <a:ext uri="{9D8B030D-6E8A-4147-A177-3AD203B41FA5}">
                      <a16:colId xmlns:a16="http://schemas.microsoft.com/office/drawing/2014/main" val="2902921042"/>
                    </a:ext>
                  </a:extLst>
                </a:gridCol>
                <a:gridCol w="1894602">
                  <a:extLst>
                    <a:ext uri="{9D8B030D-6E8A-4147-A177-3AD203B41FA5}">
                      <a16:colId xmlns:a16="http://schemas.microsoft.com/office/drawing/2014/main" val="1579406590"/>
                    </a:ext>
                  </a:extLst>
                </a:gridCol>
                <a:gridCol w="2004242">
                  <a:extLst>
                    <a:ext uri="{9D8B030D-6E8A-4147-A177-3AD203B41FA5}">
                      <a16:colId xmlns:a16="http://schemas.microsoft.com/office/drawing/2014/main" val="880518859"/>
                    </a:ext>
                  </a:extLst>
                </a:gridCol>
              </a:tblGrid>
              <a:tr h="399145">
                <a:tc>
                  <a:txBody>
                    <a:bodyPr/>
                    <a:lstStyle/>
                    <a:p>
                      <a:pPr algn="l"/>
                      <a:r>
                        <a:rPr lang="ru-RU" sz="1500" dirty="0">
                          <a:solidFill>
                            <a:schemeClr val="bg1"/>
                          </a:solidFill>
                          <a:effectLst/>
                        </a:rPr>
                        <a:t>Подход</a:t>
                      </a:r>
                    </a:p>
                  </a:txBody>
                  <a:tcPr marL="78520" marR="130867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chemeClr val="bg1"/>
                          </a:solidFill>
                          <a:effectLst/>
                        </a:rPr>
                        <a:t>Описание</a:t>
                      </a:r>
                    </a:p>
                  </a:txBody>
                  <a:tcPr marL="130867" marR="130867" marT="81792" marB="8179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chemeClr val="bg1"/>
                          </a:solidFill>
                          <a:effectLst/>
                        </a:rPr>
                        <a:t>Преимущества</a:t>
                      </a:r>
                    </a:p>
                  </a:txBody>
                  <a:tcPr marL="130867" marR="130867" marT="81792" marB="8179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dirty="0">
                          <a:solidFill>
                            <a:schemeClr val="bg1"/>
                          </a:solidFill>
                          <a:effectLst/>
                        </a:rPr>
                        <a:t>Недостатки</a:t>
                      </a:r>
                    </a:p>
                  </a:txBody>
                  <a:tcPr marL="130867" marR="130867" marT="81792" marB="8179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744249"/>
                  </a:ext>
                </a:extLst>
              </a:tr>
              <a:tr h="634706"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Ручная разметка</a:t>
                      </a:r>
                    </a:p>
                  </a:txBody>
                  <a:tcPr marL="78520" marR="130867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Аннотирование данных вручную экспертами</a:t>
                      </a:r>
                    </a:p>
                  </a:txBody>
                  <a:tcPr marL="130867" marR="130867" marT="81792" marB="8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Высокое качество, учёт нюансов</a:t>
                      </a:r>
                    </a:p>
                  </a:txBody>
                  <a:tcPr marL="130867" marR="130867" marT="81792" marB="8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Трудоёмкость, высокая стоимость</a:t>
                      </a:r>
                    </a:p>
                  </a:txBody>
                  <a:tcPr marL="130867" marR="78520" marT="81792" marB="8179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585946"/>
                  </a:ext>
                </a:extLst>
              </a:tr>
              <a:tr h="1105829"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Краудсорсинг</a:t>
                      </a:r>
                    </a:p>
                  </a:txBody>
                  <a:tcPr marL="78520" marR="130867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Привлечение внешних исполнителей (</a:t>
                      </a:r>
                      <a:r>
                        <a:rPr lang="en" sz="1500">
                          <a:effectLst/>
                        </a:rPr>
                        <a:t>Yandex.Toloka, Amazon Mechanical Turk)</a:t>
                      </a:r>
                    </a:p>
                  </a:txBody>
                  <a:tcPr marL="130867" marR="130867" marT="81792" marB="8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Быстрота, масштабируемость</a:t>
                      </a:r>
                    </a:p>
                  </a:txBody>
                  <a:tcPr marL="130867" marR="130867" marT="81792" marB="8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Необходимость контроля качества</a:t>
                      </a:r>
                    </a:p>
                  </a:txBody>
                  <a:tcPr marL="130867" marR="78520" marT="81792" marB="8179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117912"/>
                  </a:ext>
                </a:extLst>
              </a:tr>
              <a:tr h="1105829"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Автоматическая разметка</a:t>
                      </a:r>
                    </a:p>
                  </a:txBody>
                  <a:tcPr marL="78520" marR="130867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Использование правил или слабых моделей для предварительной разметки</a:t>
                      </a:r>
                    </a:p>
                  </a:txBody>
                  <a:tcPr marL="130867" marR="130867" marT="81792" marB="8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Скорость, низкая стоимость</a:t>
                      </a:r>
                    </a:p>
                  </a:txBody>
                  <a:tcPr marL="130867" marR="130867" marT="81792" marB="8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Требует последующей верификации</a:t>
                      </a:r>
                    </a:p>
                  </a:txBody>
                  <a:tcPr marL="130867" marR="78520" marT="81792" marB="8179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204045"/>
                  </a:ext>
                </a:extLst>
              </a:tr>
              <a:tr h="1105829">
                <a:tc>
                  <a:txBody>
                    <a:bodyPr/>
                    <a:lstStyle/>
                    <a:p>
                      <a:r>
                        <a:rPr lang="ru-RU" sz="1500">
                          <a:effectLst/>
                        </a:rPr>
                        <a:t>Активное обучение</a:t>
                      </a:r>
                    </a:p>
                  </a:txBody>
                  <a:tcPr marL="78520" marR="130867" marT="81792" marB="817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Модель выбирает наиболее информативные примеры для разметки</a:t>
                      </a:r>
                    </a:p>
                  </a:txBody>
                  <a:tcPr marL="130867" marR="130867" marT="81792" marB="8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Оптимизация трудозатрат</a:t>
                      </a:r>
                    </a:p>
                  </a:txBody>
                  <a:tcPr marL="130867" marR="130867" marT="81792" marB="8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effectLst/>
                        </a:rPr>
                        <a:t>Сложность реализации</a:t>
                      </a:r>
                    </a:p>
                  </a:txBody>
                  <a:tcPr marL="130867" marR="78520" marT="81792" marB="8179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063702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67229F6E-67B7-3413-36B7-7B35DF11A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150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723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FFBD88B-BF2A-8F44-B648-677BB7D975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6DFA47-ACB8-5246-AC9C-19D438CF65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A5DD86-C5F3-5843-B60F-AC26E1B16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Разметка текста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060AA73-8574-054A-B94B-1EAA5FAB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249" y="1002714"/>
            <a:ext cx="4322530" cy="777025"/>
          </a:xfrm>
        </p:spPr>
        <p:txBody>
          <a:bodyPr/>
          <a:lstStyle/>
          <a:p>
            <a:r>
              <a:rPr lang="ru-RU" b="1" dirty="0"/>
              <a:t>Разметка данных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4F67C03-69F9-1545-97DC-7A7E8768AD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17062" y="1955091"/>
            <a:ext cx="3796320" cy="1139641"/>
          </a:xfrm>
        </p:spPr>
        <p:txBody>
          <a:bodyPr>
            <a:noAutofit/>
          </a:bodyPr>
          <a:lstStyle/>
          <a:p>
            <a:pPr algn="l"/>
            <a:r>
              <a:rPr lang="ru-RU" sz="1600" b="1" i="0" u="none" strike="noStrike" dirty="0">
                <a:effectLst/>
                <a:latin typeface="+mn-lt"/>
              </a:rPr>
              <a:t>Класс </a:t>
            </a:r>
            <a:r>
              <a:rPr lang="en" sz="1600" b="1" i="0" u="none" strike="noStrike" dirty="0" err="1">
                <a:effectLst/>
                <a:latin typeface="+mn-lt"/>
              </a:rPr>
              <a:t>AdvancedSentimentLabeler</a:t>
            </a:r>
            <a:r>
              <a:rPr lang="en" sz="1600" b="0" i="0" u="none" strike="noStrike" dirty="0">
                <a:effectLst/>
                <a:latin typeface="+mn-lt"/>
              </a:rPr>
              <a:t> — </a:t>
            </a:r>
            <a:r>
              <a:rPr lang="ru-RU" sz="1600" b="0" i="0" u="none" strike="noStrike" dirty="0">
                <a:effectLst/>
                <a:latin typeface="+mn-lt"/>
              </a:rPr>
              <a:t>гибридный подход:</a:t>
            </a:r>
          </a:p>
          <a:p>
            <a:pPr marL="285750" indent="-285750" algn="l">
              <a:buFontTx/>
              <a:buChar char="-"/>
            </a:pPr>
            <a:r>
              <a:rPr lang="ru-RU" sz="1600" b="0" i="0" u="none" strike="noStrike" dirty="0">
                <a:effectLst/>
                <a:latin typeface="+mn-lt"/>
              </a:rPr>
              <a:t>Словари тональности (позитивные/негативные слова, усилители, ослабители, отрицания)</a:t>
            </a:r>
          </a:p>
          <a:p>
            <a:pPr marL="285750" indent="-285750" algn="l">
              <a:buFontTx/>
              <a:buChar char="-"/>
            </a:pPr>
            <a:r>
              <a:rPr lang="ru-RU" sz="1600" b="0" i="0" u="none" strike="noStrike" dirty="0">
                <a:effectLst/>
                <a:latin typeface="+mn-lt"/>
              </a:rPr>
              <a:t>Тематические правила (персонал, качество товара, скорость, состояние помещения, график работы)</a:t>
            </a:r>
          </a:p>
          <a:p>
            <a:pPr algn="l"/>
            <a:r>
              <a:rPr lang="ru-RU" sz="1600" b="1" i="0" u="none" strike="noStrike" dirty="0">
                <a:effectLst/>
                <a:latin typeface="+mn-lt"/>
              </a:rPr>
              <a:t>Метод _</a:t>
            </a:r>
            <a:r>
              <a:rPr lang="en" sz="1600" b="1" i="0" u="none" strike="noStrike" dirty="0" err="1">
                <a:effectLst/>
                <a:latin typeface="+mn-lt"/>
              </a:rPr>
              <a:t>enhance_with_ngrams</a:t>
            </a:r>
            <a:r>
              <a:rPr lang="en" sz="1600" b="1" i="0" u="none" strike="noStrike" dirty="0">
                <a:effectLst/>
                <a:latin typeface="+mn-lt"/>
              </a:rPr>
              <a:t>()</a:t>
            </a:r>
            <a:r>
              <a:rPr lang="en" sz="1600" b="0" i="0" u="none" strike="noStrike" dirty="0">
                <a:effectLst/>
                <a:latin typeface="+mn-lt"/>
              </a:rPr>
              <a:t> — </a:t>
            </a:r>
            <a:r>
              <a:rPr lang="ru-RU" sz="1600" b="0" i="0" u="none" strike="noStrike" dirty="0">
                <a:effectLst/>
                <a:latin typeface="+mn-lt"/>
              </a:rPr>
              <a:t>автоматическое обогащение правил на основе частотных биграмм и триграмм (порог ≥5)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7229F6E-67B7-3413-36B7-7B35DF11A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150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94CBE548-C312-FDEF-5216-F7331F0FD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056012"/>
              </p:ext>
            </p:extLst>
          </p:nvPr>
        </p:nvGraphicFramePr>
        <p:xfrm>
          <a:off x="548437" y="1391226"/>
          <a:ext cx="2910726" cy="4777899"/>
        </p:xfrm>
        <a:graphic>
          <a:graphicData uri="http://schemas.openxmlformats.org/drawingml/2006/table">
            <a:tbl>
              <a:tblPr/>
              <a:tblGrid>
                <a:gridCol w="667858">
                  <a:extLst>
                    <a:ext uri="{9D8B030D-6E8A-4147-A177-3AD203B41FA5}">
                      <a16:colId xmlns:a16="http://schemas.microsoft.com/office/drawing/2014/main" val="3074468340"/>
                    </a:ext>
                  </a:extLst>
                </a:gridCol>
                <a:gridCol w="1233607">
                  <a:extLst>
                    <a:ext uri="{9D8B030D-6E8A-4147-A177-3AD203B41FA5}">
                      <a16:colId xmlns:a16="http://schemas.microsoft.com/office/drawing/2014/main" val="1909776891"/>
                    </a:ext>
                  </a:extLst>
                </a:gridCol>
                <a:gridCol w="1009261">
                  <a:extLst>
                    <a:ext uri="{9D8B030D-6E8A-4147-A177-3AD203B41FA5}">
                      <a16:colId xmlns:a16="http://schemas.microsoft.com/office/drawing/2014/main" val="3852140250"/>
                    </a:ext>
                  </a:extLst>
                </a:gridCol>
              </a:tblGrid>
              <a:tr h="229216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bg1"/>
                          </a:solidFill>
                          <a:effectLst/>
                        </a:rPr>
                        <a:t>Шаг</a:t>
                      </a:r>
                    </a:p>
                  </a:txBody>
                  <a:tcPr marL="45092" marR="75153" marT="46970" marB="469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solidFill>
                            <a:schemeClr val="bg1"/>
                          </a:solidFill>
                          <a:effectLst/>
                        </a:rPr>
                        <a:t>Действие</a:t>
                      </a:r>
                    </a:p>
                  </a:txBody>
                  <a:tcPr marL="75153" marR="75153" marT="46970" marB="469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bg1"/>
                          </a:solidFill>
                          <a:effectLst/>
                        </a:rPr>
                        <a:t>Вес</a:t>
                      </a:r>
                    </a:p>
                  </a:txBody>
                  <a:tcPr marL="75153" marR="75153" marT="46970" marB="4697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018321"/>
                  </a:ext>
                </a:extLst>
              </a:tr>
              <a:tr h="635040"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1</a:t>
                      </a:r>
                    </a:p>
                  </a:txBody>
                  <a:tcPr marL="45092" marR="75153" marT="46970" marB="469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Проверка точных фраз с известной тональностью</a:t>
                      </a:r>
                    </a:p>
                  </a:txBody>
                  <a:tcPr marL="75153" marR="75153" marT="46970" marB="46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±3 балла</a:t>
                      </a:r>
                    </a:p>
                  </a:txBody>
                  <a:tcPr marL="75153" marR="45092" marT="46970" marB="4697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008465"/>
                  </a:ext>
                </a:extLst>
              </a:tr>
              <a:tr h="1040864"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2</a:t>
                      </a:r>
                    </a:p>
                  </a:txBody>
                  <a:tcPr marL="45092" marR="75153" marT="46970" marB="469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Анализ контекста вокруг ключевых слов темы (окно 5 слов) + учёт отрицаний</a:t>
                      </a:r>
                    </a:p>
                  </a:txBody>
                  <a:tcPr marL="75153" marR="75153" marT="46970" marB="46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±1 балл</a:t>
                      </a:r>
                    </a:p>
                  </a:txBody>
                  <a:tcPr marL="75153" marR="45092" marT="46970" marB="4697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292842"/>
                  </a:ext>
                </a:extLst>
              </a:tr>
              <a:tr h="635040"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3</a:t>
                      </a:r>
                    </a:p>
                  </a:txBody>
                  <a:tcPr marL="45092" marR="75153" marT="46970" marB="469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Проверка специфичных для темы действий</a:t>
                      </a:r>
                    </a:p>
                  </a:txBody>
                  <a:tcPr marL="75153" marR="75153" marT="46970" marB="46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±2 балла</a:t>
                      </a:r>
                    </a:p>
                  </a:txBody>
                  <a:tcPr marL="75153" marR="45092" marT="46970" marB="4697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39072"/>
                  </a:ext>
                </a:extLst>
              </a:tr>
              <a:tr h="770315"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4</a:t>
                      </a:r>
                    </a:p>
                  </a:txBody>
                  <a:tcPr marL="45092" marR="75153" marT="46970" marB="469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Применение усилителей (×1.5) и ослабителей (×0.5)</a:t>
                      </a:r>
                    </a:p>
                  </a:txBody>
                  <a:tcPr marL="75153" marR="75153" marT="46970" marB="46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—</a:t>
                      </a:r>
                    </a:p>
                  </a:txBody>
                  <a:tcPr marL="75153" marR="45092" marT="46970" marB="4697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478792"/>
                  </a:ext>
                </a:extLst>
              </a:tr>
              <a:tr h="666819"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5</a:t>
                      </a:r>
                    </a:p>
                  </a:txBody>
                  <a:tcPr marL="45092" marR="75153" marT="46970" marB="469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effectLst/>
                        </a:rPr>
                        <a:t>Определение тональности по итоговой оценке</a:t>
                      </a:r>
                    </a:p>
                  </a:txBody>
                  <a:tcPr marL="75153" marR="75153" marT="46970" marB="46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effectLst/>
                        </a:rPr>
                        <a:t>позитив (≥2), скорее позитив (1–2), нейтрально (-1–1), скорее негатив (-2–-1), негатив (≤-2)</a:t>
                      </a:r>
                    </a:p>
                  </a:txBody>
                  <a:tcPr marL="75153" marR="45092" marT="46970" marB="4697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4991516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2FEF2278-CCE7-FEC7-6C13-59A7B78C3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757216"/>
              </p:ext>
            </p:extLst>
          </p:nvPr>
        </p:nvGraphicFramePr>
        <p:xfrm>
          <a:off x="7437650" y="2031579"/>
          <a:ext cx="4339595" cy="3108960"/>
        </p:xfrm>
        <a:graphic>
          <a:graphicData uri="http://schemas.openxmlformats.org/drawingml/2006/table">
            <a:tbl>
              <a:tblPr/>
              <a:tblGrid>
                <a:gridCol w="1723727">
                  <a:extLst>
                    <a:ext uri="{9D8B030D-6E8A-4147-A177-3AD203B41FA5}">
                      <a16:colId xmlns:a16="http://schemas.microsoft.com/office/drawing/2014/main" val="755706612"/>
                    </a:ext>
                  </a:extLst>
                </a:gridCol>
                <a:gridCol w="1045861">
                  <a:extLst>
                    <a:ext uri="{9D8B030D-6E8A-4147-A177-3AD203B41FA5}">
                      <a16:colId xmlns:a16="http://schemas.microsoft.com/office/drawing/2014/main" val="1849886600"/>
                    </a:ext>
                  </a:extLst>
                </a:gridCol>
                <a:gridCol w="1570007">
                  <a:extLst>
                    <a:ext uri="{9D8B030D-6E8A-4147-A177-3AD203B41FA5}">
                      <a16:colId xmlns:a16="http://schemas.microsoft.com/office/drawing/2014/main" val="38845351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Текст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Тема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Результат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680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«Сотрудники очень вежливые, помогли выбрать товар»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персонал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позитив (оценка: 3.0)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6693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«Продавец нахамил, ужасное обслуживание»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персонал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негатив (оценка: -2.5)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21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«График работы неудобный, часто закрыто»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график работы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негатив (оценка: -2.0)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765010"/>
                  </a:ext>
                </a:extLst>
              </a:tr>
            </a:tbl>
          </a:graphicData>
        </a:graphic>
      </p:graphicFrame>
      <p:sp>
        <p:nvSpPr>
          <p:cNvPr id="13" name="Стрелка вправо 12">
            <a:extLst>
              <a:ext uri="{FF2B5EF4-FFF2-40B4-BE49-F238E27FC236}">
                <a16:creationId xmlns:a16="http://schemas.microsoft.com/office/drawing/2014/main" id="{84C842D6-AC7B-F336-F76E-97B44AB2BD90}"/>
              </a:ext>
            </a:extLst>
          </p:cNvPr>
          <p:cNvSpPr/>
          <p:nvPr/>
        </p:nvSpPr>
        <p:spPr>
          <a:xfrm>
            <a:off x="7108371" y="3429000"/>
            <a:ext cx="186571" cy="157059"/>
          </a:xfrm>
          <a:prstGeom prst="rightArrow">
            <a:avLst/>
          </a:prstGeom>
          <a:ln>
            <a:solidFill>
              <a:srgbClr val="155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155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FFBD88B-BF2A-8F44-B648-677BB7D975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6DFA47-ACB8-5246-AC9C-19D438CF65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A5DD86-C5F3-5843-B60F-AC26E1B16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Разметка текста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060AA73-8574-054A-B94B-1EAA5FAB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437" y="1002714"/>
            <a:ext cx="4322530" cy="777025"/>
          </a:xfrm>
        </p:spPr>
        <p:txBody>
          <a:bodyPr/>
          <a:lstStyle/>
          <a:p>
            <a:r>
              <a:rPr lang="ru-RU" b="1" dirty="0"/>
              <a:t>Разметка данных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8031EA57-244F-BBF4-C863-9CEDE82DF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8437" y="1355699"/>
            <a:ext cx="5758625" cy="2399371"/>
          </a:xfrm>
        </p:spPr>
        <p:txBody>
          <a:bodyPr/>
          <a:lstStyle/>
          <a:p>
            <a:r>
              <a:rPr lang="ru-RU" dirty="0"/>
              <a:t>Разметка производилась по 5 темам:</a:t>
            </a:r>
          </a:p>
          <a:p>
            <a:pPr marL="285750" indent="-285750">
              <a:buFontTx/>
              <a:buChar char="-"/>
            </a:pPr>
            <a:r>
              <a:rPr lang="ru-RU" b="1" dirty="0"/>
              <a:t>Поведение сотрудников</a:t>
            </a:r>
            <a:r>
              <a:rPr lang="ru-RU" dirty="0"/>
              <a:t>: негатив, позитив, не упоминается/нейтрально</a:t>
            </a:r>
          </a:p>
          <a:p>
            <a:pPr marL="285750" indent="-285750">
              <a:buFontTx/>
              <a:buChar char="-"/>
            </a:pPr>
            <a:r>
              <a:rPr lang="ru-RU" b="1" dirty="0"/>
              <a:t>Состояние помещения</a:t>
            </a:r>
            <a:r>
              <a:rPr lang="ru-RU" dirty="0"/>
              <a:t>: негатив, позитив, не упоминается/нейтрально</a:t>
            </a:r>
          </a:p>
          <a:p>
            <a:pPr marL="285750" indent="-285750">
              <a:buFontTx/>
              <a:buChar char="-"/>
            </a:pPr>
            <a:r>
              <a:rPr lang="ru-RU" b="1" dirty="0"/>
              <a:t>Скорость обслуживания</a:t>
            </a:r>
            <a:r>
              <a:rPr lang="ru-RU" dirty="0"/>
              <a:t>: негатив, позитив, не упоминается/нейтрально</a:t>
            </a:r>
          </a:p>
          <a:p>
            <a:pPr marL="285750" indent="-285750">
              <a:buFontTx/>
              <a:buChar char="-"/>
            </a:pPr>
            <a:r>
              <a:rPr lang="ru-RU" b="1" dirty="0"/>
              <a:t>Жалоба на график работы</a:t>
            </a:r>
            <a:r>
              <a:rPr lang="ru-RU" dirty="0"/>
              <a:t>: негатив, не упоминается/нейтрально</a:t>
            </a:r>
          </a:p>
          <a:p>
            <a:pPr marL="285750" indent="-285750">
              <a:buFontTx/>
              <a:buChar char="-"/>
            </a:pPr>
            <a:r>
              <a:rPr lang="ru-RU" b="1" dirty="0"/>
              <a:t>Жалоба на невыдачу заказа</a:t>
            </a:r>
            <a:r>
              <a:rPr lang="ru-RU" dirty="0"/>
              <a:t>: негатив, не упоминается/нейтрально</a:t>
            </a:r>
          </a:p>
          <a:p>
            <a:r>
              <a:rPr lang="en-US" dirty="0"/>
              <a:t>*</a:t>
            </a:r>
            <a:r>
              <a:rPr lang="ru-RU" dirty="0"/>
              <a:t>Для некоторых тематик присутствует сильный дисбаланс классов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7E4D39B-C626-9A4A-4DF0-C4AB7477C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26" y="3755070"/>
            <a:ext cx="9674573" cy="297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269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5A8233F-9415-E492-0E45-D80338EDF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C6D582-6794-1B34-9897-00EA50F97B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8EADB5-1287-ED67-DC49-0842A392B5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Результаты обучения моделей</a:t>
            </a:r>
          </a:p>
          <a:p>
            <a:endParaRPr lang="ru-RU"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7F742852-3246-0F66-4E3F-9E2DFF885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464748"/>
              </p:ext>
            </p:extLst>
          </p:nvPr>
        </p:nvGraphicFramePr>
        <p:xfrm>
          <a:off x="768979" y="1577618"/>
          <a:ext cx="6592748" cy="4463005"/>
        </p:xfrm>
        <a:graphic>
          <a:graphicData uri="http://schemas.openxmlformats.org/drawingml/2006/table">
            <a:tbl>
              <a:tblPr/>
              <a:tblGrid>
                <a:gridCol w="2333036">
                  <a:extLst>
                    <a:ext uri="{9D8B030D-6E8A-4147-A177-3AD203B41FA5}">
                      <a16:colId xmlns:a16="http://schemas.microsoft.com/office/drawing/2014/main" val="2814141722"/>
                    </a:ext>
                  </a:extLst>
                </a:gridCol>
                <a:gridCol w="4259712">
                  <a:extLst>
                    <a:ext uri="{9D8B030D-6E8A-4147-A177-3AD203B41FA5}">
                      <a16:colId xmlns:a16="http://schemas.microsoft.com/office/drawing/2014/main" val="484639169"/>
                    </a:ext>
                  </a:extLst>
                </a:gridCol>
              </a:tblGrid>
              <a:tr h="240970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solidFill>
                            <a:schemeClr val="bg1"/>
                          </a:solidFill>
                          <a:effectLst/>
                        </a:rPr>
                        <a:t>Модель</a:t>
                      </a:r>
                    </a:p>
                  </a:txBody>
                  <a:tcPr marL="47126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</a:rPr>
                        <a:t>Ключевые параметры</a:t>
                      </a:r>
                    </a:p>
                  </a:txBody>
                  <a:tcPr marL="78544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5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590369"/>
                  </a:ext>
                </a:extLst>
              </a:tr>
              <a:tr h="734051">
                <a:tc>
                  <a:txBody>
                    <a:bodyPr/>
                    <a:lstStyle/>
                    <a:p>
                      <a:r>
                        <a:rPr lang="ru-RU" sz="1200" b="1" dirty="0">
                          <a:effectLst/>
                        </a:rPr>
                        <a:t>Метод опорных векторов (</a:t>
                      </a:r>
                      <a:r>
                        <a:rPr lang="en" sz="1200" b="1" dirty="0">
                          <a:effectLst/>
                        </a:rPr>
                        <a:t>SVM)</a:t>
                      </a:r>
                      <a:endParaRPr lang="en" sz="1200" dirty="0">
                        <a:effectLst/>
                      </a:endParaRPr>
                    </a:p>
                  </a:txBody>
                  <a:tcPr marL="47126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• Линейное ядро</a:t>
                      </a:r>
                      <a:br>
                        <a:rPr lang="ru-RU" sz="1200" dirty="0">
                          <a:effectLst/>
                        </a:rPr>
                      </a:br>
                      <a:r>
                        <a:rPr lang="ru-RU" sz="1200" dirty="0">
                          <a:effectLst/>
                        </a:rPr>
                        <a:t>• Балансировка классов (</a:t>
                      </a:r>
                      <a:r>
                        <a:rPr lang="en" sz="1200" dirty="0" err="1">
                          <a:effectLst/>
                        </a:rPr>
                        <a:t>class_weight</a:t>
                      </a:r>
                      <a:r>
                        <a:rPr lang="en" sz="1200" dirty="0">
                          <a:effectLst/>
                        </a:rPr>
                        <a:t>='balanced')</a:t>
                      </a:r>
                    </a:p>
                  </a:txBody>
                  <a:tcPr marL="78544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12253"/>
                  </a:ext>
                </a:extLst>
              </a:tr>
              <a:tr h="925975">
                <a:tc>
                  <a:txBody>
                    <a:bodyPr/>
                    <a:lstStyle/>
                    <a:p>
                      <a:r>
                        <a:rPr lang="ru-RU" sz="1200" b="1" dirty="0">
                          <a:effectLst/>
                        </a:rPr>
                        <a:t>Случайный лес (</a:t>
                      </a:r>
                      <a:r>
                        <a:rPr lang="en" sz="1200" b="1" dirty="0">
                          <a:effectLst/>
                        </a:rPr>
                        <a:t>Random Forest)</a:t>
                      </a:r>
                      <a:endParaRPr lang="en" sz="1200" dirty="0">
                        <a:effectLst/>
                      </a:endParaRPr>
                    </a:p>
                  </a:txBody>
                  <a:tcPr marL="47126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• 100 деревьев (</a:t>
                      </a:r>
                      <a:r>
                        <a:rPr lang="en" sz="1200" dirty="0" err="1">
                          <a:effectLst/>
                        </a:rPr>
                        <a:t>n_estimators</a:t>
                      </a:r>
                      <a:r>
                        <a:rPr lang="en" sz="1200" dirty="0">
                          <a:effectLst/>
                        </a:rPr>
                        <a:t>)</a:t>
                      </a:r>
                      <a:br>
                        <a:rPr lang="en" sz="1200" dirty="0">
                          <a:effectLst/>
                        </a:rPr>
                      </a:br>
                      <a:r>
                        <a:rPr lang="en" sz="1200" dirty="0">
                          <a:effectLst/>
                        </a:rPr>
                        <a:t>• </a:t>
                      </a:r>
                      <a:r>
                        <a:rPr lang="ru-RU" sz="1200" dirty="0">
                          <a:effectLst/>
                        </a:rPr>
                        <a:t>Глубина 20 (</a:t>
                      </a:r>
                      <a:r>
                        <a:rPr lang="en" sz="1200" dirty="0" err="1">
                          <a:effectLst/>
                        </a:rPr>
                        <a:t>max_depth</a:t>
                      </a:r>
                      <a:r>
                        <a:rPr lang="en" sz="1200" dirty="0">
                          <a:effectLst/>
                        </a:rPr>
                        <a:t>)</a:t>
                      </a:r>
                      <a:br>
                        <a:rPr lang="en" sz="1200" dirty="0">
                          <a:effectLst/>
                        </a:rPr>
                      </a:br>
                      <a:r>
                        <a:rPr lang="en" sz="1200" dirty="0">
                          <a:effectLst/>
                        </a:rPr>
                        <a:t>• </a:t>
                      </a:r>
                      <a:r>
                        <a:rPr lang="ru-RU" sz="1200" dirty="0">
                          <a:effectLst/>
                        </a:rPr>
                        <a:t>Балансировка классов</a:t>
                      </a:r>
                      <a:br>
                        <a:rPr lang="ru-RU" sz="1200" dirty="0">
                          <a:effectLst/>
                        </a:rPr>
                      </a:br>
                      <a:r>
                        <a:rPr lang="ru-RU" sz="1200" dirty="0">
                          <a:effectLst/>
                        </a:rPr>
                        <a:t>• Использование всех ядер </a:t>
                      </a:r>
                      <a:r>
                        <a:rPr lang="en" sz="1200" dirty="0">
                          <a:effectLst/>
                        </a:rPr>
                        <a:t>CPU</a:t>
                      </a:r>
                    </a:p>
                  </a:txBody>
                  <a:tcPr marL="78544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623198"/>
                  </a:ext>
                </a:extLst>
              </a:tr>
              <a:tr h="960699">
                <a:tc>
                  <a:txBody>
                    <a:bodyPr/>
                    <a:lstStyle/>
                    <a:p>
                      <a:r>
                        <a:rPr lang="ru-RU" sz="1200" b="1" dirty="0">
                          <a:effectLst/>
                        </a:rPr>
                        <a:t>Решающее дерево (</a:t>
                      </a:r>
                      <a:r>
                        <a:rPr lang="en" sz="1200" b="1" dirty="0">
                          <a:effectLst/>
                        </a:rPr>
                        <a:t>Decision Tree)</a:t>
                      </a:r>
                      <a:endParaRPr lang="en" sz="1200" dirty="0">
                        <a:effectLst/>
                      </a:endParaRPr>
                    </a:p>
                  </a:txBody>
                  <a:tcPr marL="47126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• Глубина 20 (</a:t>
                      </a:r>
                      <a:r>
                        <a:rPr lang="en" sz="1200" dirty="0" err="1">
                          <a:effectLst/>
                        </a:rPr>
                        <a:t>max_depth</a:t>
                      </a:r>
                      <a:r>
                        <a:rPr lang="en" sz="1200" dirty="0">
                          <a:effectLst/>
                        </a:rPr>
                        <a:t>)</a:t>
                      </a:r>
                      <a:br>
                        <a:rPr lang="en" sz="1200" dirty="0">
                          <a:effectLst/>
                        </a:rPr>
                      </a:br>
                      <a:r>
                        <a:rPr lang="en" sz="1200" dirty="0">
                          <a:effectLst/>
                        </a:rPr>
                        <a:t>• </a:t>
                      </a:r>
                      <a:r>
                        <a:rPr lang="ru-RU" sz="1200" dirty="0">
                          <a:effectLst/>
                        </a:rPr>
                        <a:t>Балансировка классов</a:t>
                      </a:r>
                      <a:br>
                        <a:rPr lang="ru-RU" sz="1200" dirty="0">
                          <a:effectLst/>
                        </a:rPr>
                      </a:br>
                      <a:r>
                        <a:rPr lang="ru-RU" sz="1200" dirty="0">
                          <a:effectLst/>
                        </a:rPr>
                        <a:t>• Критерий ветвления — энтропия или индекс Джини</a:t>
                      </a:r>
                    </a:p>
                  </a:txBody>
                  <a:tcPr marL="78544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225314"/>
                  </a:ext>
                </a:extLst>
              </a:tr>
              <a:tr h="1200766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BERT</a:t>
                      </a:r>
                      <a:endParaRPr lang="en" sz="1200" b="1" dirty="0">
                        <a:effectLst/>
                      </a:endParaRPr>
                    </a:p>
                  </a:txBody>
                  <a:tcPr marL="47126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Модель: </a:t>
                      </a:r>
                      <a:r>
                        <a:rPr lang="e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DeepPavlov</a:t>
                      </a:r>
                      <a:r>
                        <a:rPr lang="e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rubert</a:t>
                      </a:r>
                      <a:r>
                        <a:rPr lang="e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-base-cased </a:t>
                      </a:r>
                      <a:br>
                        <a:rPr lang="en" sz="1200" dirty="0"/>
                      </a:br>
                      <a:r>
                        <a:rPr lang="e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Оптимизатор: </a:t>
                      </a:r>
                      <a:r>
                        <a:rPr lang="e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AdamW</a:t>
                      </a:r>
                      <a:r>
                        <a:rPr lang="e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br>
                        <a:rPr lang="en" sz="1200" dirty="0"/>
                      </a:br>
                      <a:r>
                        <a:rPr lang="e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Скорость обучения (</a:t>
                      </a:r>
                      <a:r>
                        <a:rPr lang="e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lr</a:t>
                      </a:r>
                      <a:r>
                        <a:rPr lang="e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2e-5 </a:t>
                      </a:r>
                      <a:br>
                        <a:rPr lang="en" sz="1200" dirty="0"/>
                      </a:br>
                      <a:r>
                        <a:rPr lang="e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Количество эпох: 3 </a:t>
                      </a:r>
                      <a:br>
                        <a:rPr lang="ru-RU" sz="1200" dirty="0"/>
                      </a:b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Размер </a:t>
                      </a:r>
                      <a:r>
                        <a:rPr lang="ru-RU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батча</a:t>
                      </a: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batch_size</a:t>
                      </a:r>
                      <a:r>
                        <a:rPr lang="e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32 </a:t>
                      </a:r>
                      <a:br>
                        <a:rPr lang="en" sz="1200" dirty="0"/>
                      </a:br>
                      <a:r>
                        <a:rPr lang="e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Максимальная длина текста (</a:t>
                      </a:r>
                      <a:r>
                        <a:rPr lang="e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max_length</a:t>
                      </a:r>
                      <a:r>
                        <a:rPr lang="e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64 </a:t>
                      </a: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токена </a:t>
                      </a:r>
                      <a:br>
                        <a:rPr lang="ru-RU" sz="1200" dirty="0"/>
                      </a:b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Функция потерь: кросс-энтропия </a:t>
                      </a:r>
                      <a:br>
                        <a:rPr lang="ru-RU" sz="1200" dirty="0"/>
                      </a:b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Устройство: </a:t>
                      </a:r>
                      <a:r>
                        <a:rPr lang="e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GPU (CUDA) </a:t>
                      </a: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или </a:t>
                      </a:r>
                      <a:r>
                        <a:rPr lang="e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</a:t>
                      </a:r>
                      <a:endParaRPr lang="ru-RU" sz="1200" dirty="0">
                        <a:effectLst/>
                      </a:endParaRPr>
                    </a:p>
                  </a:txBody>
                  <a:tcPr marL="78544" marR="78544" marT="49090" marB="49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9782388"/>
                  </a:ext>
                </a:extLst>
              </a:tr>
            </a:tbl>
          </a:graphicData>
        </a:graphic>
      </p:graphicFrame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B405DEFD-A231-EBBA-035E-E84A14EA7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689" y="1189105"/>
            <a:ext cx="5335159" cy="777025"/>
          </a:xfrm>
        </p:spPr>
        <p:txBody>
          <a:bodyPr/>
          <a:lstStyle/>
          <a:p>
            <a:r>
              <a:rPr lang="ru-RU" b="1" dirty="0"/>
              <a:t>Инициализация моделей: параметры</a:t>
            </a:r>
          </a:p>
        </p:txBody>
      </p:sp>
    </p:spTree>
    <p:extLst>
      <p:ext uri="{BB962C8B-B14F-4D97-AF65-F5344CB8AC3E}">
        <p14:creationId xmlns:p14="http://schemas.microsoft.com/office/powerpoint/2010/main" val="3703712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5D7C66B-FD18-4A57-1396-9636E4E229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881A0A-0262-9A08-1E2E-499BDD478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EEC798-773A-21F6-B02A-2DCC884C22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Результаты обучения моделей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8A7F0B6-451A-C3C4-1CC1-F27DCAFAD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328003"/>
            <a:ext cx="4322530" cy="777025"/>
          </a:xfrm>
        </p:spPr>
        <p:txBody>
          <a:bodyPr/>
          <a:lstStyle/>
          <a:p>
            <a:r>
              <a:rPr lang="ru-RU" b="1" dirty="0"/>
              <a:t>Результаты обучения моделей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D31909D0-5B6F-8393-C42B-8991DD0A5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269939"/>
              </p:ext>
            </p:extLst>
          </p:nvPr>
        </p:nvGraphicFramePr>
        <p:xfrm>
          <a:off x="367089" y="1818903"/>
          <a:ext cx="7962903" cy="2235200"/>
        </p:xfrm>
        <a:graphic>
          <a:graphicData uri="http://schemas.openxmlformats.org/drawingml/2006/table">
            <a:tbl>
              <a:tblPr/>
              <a:tblGrid>
                <a:gridCol w="826369">
                  <a:extLst>
                    <a:ext uri="{9D8B030D-6E8A-4147-A177-3AD203B41FA5}">
                      <a16:colId xmlns:a16="http://schemas.microsoft.com/office/drawing/2014/main" val="3767980508"/>
                    </a:ext>
                  </a:extLst>
                </a:gridCol>
                <a:gridCol w="1342453">
                  <a:extLst>
                    <a:ext uri="{9D8B030D-6E8A-4147-A177-3AD203B41FA5}">
                      <a16:colId xmlns:a16="http://schemas.microsoft.com/office/drawing/2014/main" val="2911934368"/>
                    </a:ext>
                  </a:extLst>
                </a:gridCol>
                <a:gridCol w="835867">
                  <a:extLst>
                    <a:ext uri="{9D8B030D-6E8A-4147-A177-3AD203B41FA5}">
                      <a16:colId xmlns:a16="http://schemas.microsoft.com/office/drawing/2014/main" val="1100405394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2598531644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1485342309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3825352486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165133407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734448421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2925618928"/>
                    </a:ext>
                  </a:extLst>
                </a:gridCol>
              </a:tblGrid>
              <a:tr h="203200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Поведение сотрудника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Model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Vectorizer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Accuracy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Precision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Recall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F1-Score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Macro F1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Time (s)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410081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TF-IDF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B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1,52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191571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TF-IDF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3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4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295,47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C6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910919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Decision 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TF-IDF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0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A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1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4C2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854369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Word2Vec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2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9,43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845125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Word2Vec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380,10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BB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599248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Decision 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Word2Vec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7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7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12,97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A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422520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FastText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A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E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879753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FastText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5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5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5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626,21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9B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541138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Decision 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FastText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A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A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A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B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13,40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046583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BERT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1002,00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058138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93BE0808-2DD4-136E-85C1-505CCE4E5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229620"/>
              </p:ext>
            </p:extLst>
          </p:nvPr>
        </p:nvGraphicFramePr>
        <p:xfrm>
          <a:off x="367088" y="4186068"/>
          <a:ext cx="7962903" cy="2235200"/>
        </p:xfrm>
        <a:graphic>
          <a:graphicData uri="http://schemas.openxmlformats.org/drawingml/2006/table">
            <a:tbl>
              <a:tblPr/>
              <a:tblGrid>
                <a:gridCol w="826369">
                  <a:extLst>
                    <a:ext uri="{9D8B030D-6E8A-4147-A177-3AD203B41FA5}">
                      <a16:colId xmlns:a16="http://schemas.microsoft.com/office/drawing/2014/main" val="870986063"/>
                    </a:ext>
                  </a:extLst>
                </a:gridCol>
                <a:gridCol w="1342453">
                  <a:extLst>
                    <a:ext uri="{9D8B030D-6E8A-4147-A177-3AD203B41FA5}">
                      <a16:colId xmlns:a16="http://schemas.microsoft.com/office/drawing/2014/main" val="845401255"/>
                    </a:ext>
                  </a:extLst>
                </a:gridCol>
                <a:gridCol w="835867">
                  <a:extLst>
                    <a:ext uri="{9D8B030D-6E8A-4147-A177-3AD203B41FA5}">
                      <a16:colId xmlns:a16="http://schemas.microsoft.com/office/drawing/2014/main" val="1828910713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1451288406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1430355498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507780960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191851354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2824381432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1692844407"/>
                    </a:ext>
                  </a:extLst>
                </a:gridCol>
              </a:tblGrid>
              <a:tr h="203200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Состояние помещения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Model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Vectorizer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Accuracy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Precision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Recall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F1-Score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Macro F1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Time (s)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746991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TF-IDF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8E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8E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A1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2,01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05941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TF-IDF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E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0,69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568,49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95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093971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Decision 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TF-IDF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0,69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0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5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2,82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1C2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328799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Word2Vec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C5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9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8,31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549176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Word2Vec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C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845,25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993877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Decision 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Word2Vec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2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10,52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A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105835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FastText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E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C5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B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10,65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864217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FastText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F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7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839,03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6A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75312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Decision 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FastText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2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10,53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1643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BERT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998,00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088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292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5D7C66B-FD18-4A57-1396-9636E4E229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881A0A-0262-9A08-1E2E-499BDD478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EEC798-773A-21F6-B02A-2DCC884C22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Результаты обучения моделей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8A7F0B6-451A-C3C4-1CC1-F27DCAFAD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328003"/>
            <a:ext cx="4322530" cy="777025"/>
          </a:xfrm>
        </p:spPr>
        <p:txBody>
          <a:bodyPr/>
          <a:lstStyle/>
          <a:p>
            <a:r>
              <a:rPr lang="ru-RU" b="1" dirty="0"/>
              <a:t>Результаты обучения моделей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DEA9BCBF-D203-FF2A-381D-2261FCD45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56928"/>
              </p:ext>
            </p:extLst>
          </p:nvPr>
        </p:nvGraphicFramePr>
        <p:xfrm>
          <a:off x="367088" y="1816097"/>
          <a:ext cx="7962903" cy="2235200"/>
        </p:xfrm>
        <a:graphic>
          <a:graphicData uri="http://schemas.openxmlformats.org/drawingml/2006/table">
            <a:tbl>
              <a:tblPr/>
              <a:tblGrid>
                <a:gridCol w="826369">
                  <a:extLst>
                    <a:ext uri="{9D8B030D-6E8A-4147-A177-3AD203B41FA5}">
                      <a16:colId xmlns:a16="http://schemas.microsoft.com/office/drawing/2014/main" val="4284810395"/>
                    </a:ext>
                  </a:extLst>
                </a:gridCol>
                <a:gridCol w="1342453">
                  <a:extLst>
                    <a:ext uri="{9D8B030D-6E8A-4147-A177-3AD203B41FA5}">
                      <a16:colId xmlns:a16="http://schemas.microsoft.com/office/drawing/2014/main" val="4048596652"/>
                    </a:ext>
                  </a:extLst>
                </a:gridCol>
                <a:gridCol w="835867">
                  <a:extLst>
                    <a:ext uri="{9D8B030D-6E8A-4147-A177-3AD203B41FA5}">
                      <a16:colId xmlns:a16="http://schemas.microsoft.com/office/drawing/2014/main" val="1393807691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3615754902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3849611739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4004567919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1705666421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1371181064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1495987252"/>
                    </a:ext>
                  </a:extLst>
                </a:gridCol>
              </a:tblGrid>
              <a:tr h="203200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График работы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Model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Vectorizer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Accuracy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Precision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Recall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F1-Score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Macro F1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Time (s)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9292301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TF-IDF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D3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2,08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600461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TF-IDF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C0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338,09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098183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Decision 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TF-IDF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A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A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79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2,86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675579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Word2Vec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5,89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D9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490376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Word2Vec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D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223,16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97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346439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Decision 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Word2Vec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9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8,21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664827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FastText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7,68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E7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151733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FastText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4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A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252,96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8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795506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Decision 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FastText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8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B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9,05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665943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BERT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1063,00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187460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2555CCA5-224F-8F3B-707C-02519C75D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573912"/>
              </p:ext>
            </p:extLst>
          </p:nvPr>
        </p:nvGraphicFramePr>
        <p:xfrm>
          <a:off x="367087" y="4203043"/>
          <a:ext cx="7962903" cy="2235200"/>
        </p:xfrm>
        <a:graphic>
          <a:graphicData uri="http://schemas.openxmlformats.org/drawingml/2006/table">
            <a:tbl>
              <a:tblPr/>
              <a:tblGrid>
                <a:gridCol w="826369">
                  <a:extLst>
                    <a:ext uri="{9D8B030D-6E8A-4147-A177-3AD203B41FA5}">
                      <a16:colId xmlns:a16="http://schemas.microsoft.com/office/drawing/2014/main" val="3360382447"/>
                    </a:ext>
                  </a:extLst>
                </a:gridCol>
                <a:gridCol w="1342453">
                  <a:extLst>
                    <a:ext uri="{9D8B030D-6E8A-4147-A177-3AD203B41FA5}">
                      <a16:colId xmlns:a16="http://schemas.microsoft.com/office/drawing/2014/main" val="2519746321"/>
                    </a:ext>
                  </a:extLst>
                </a:gridCol>
                <a:gridCol w="835867">
                  <a:extLst>
                    <a:ext uri="{9D8B030D-6E8A-4147-A177-3AD203B41FA5}">
                      <a16:colId xmlns:a16="http://schemas.microsoft.com/office/drawing/2014/main" val="1317534465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1421579889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2429244153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3310821979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3053907588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3877096410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1732294781"/>
                    </a:ext>
                  </a:extLst>
                </a:gridCol>
              </a:tblGrid>
              <a:tr h="203200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Скорость обслуживания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Model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Vectorizer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Accuracy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Precision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Recall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F1-Score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Macro F1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Time (s)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15022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TF-IDF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1,79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151501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TF-IDF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CE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445,40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B7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006895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Decision 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TF-IDF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3,25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9C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79174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Word2Vec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6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A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8,66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03834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Word2Vec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3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0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573,07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A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039775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Decision 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Word2Vec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D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3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5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11,30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E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194174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FastText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D8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CD8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D8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12,26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514949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FastText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9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630,68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A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149240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Decision 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FastText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4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F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9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99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A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11,62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234107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BERT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C0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C0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1080,00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62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193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5D7C66B-FD18-4A57-1396-9636E4E229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881A0A-0262-9A08-1E2E-499BDD478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EEC798-773A-21F6-B02A-2DCC884C22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 dirty="0"/>
              <a:t>Результаты обучения моделей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8A7F0B6-451A-C3C4-1CC1-F27DCAFAD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328003"/>
            <a:ext cx="4322530" cy="777025"/>
          </a:xfrm>
        </p:spPr>
        <p:txBody>
          <a:bodyPr/>
          <a:lstStyle/>
          <a:p>
            <a:r>
              <a:rPr lang="ru-RU" b="1" dirty="0"/>
              <a:t>Результаты обучения моделей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B3947CB-EE16-ED14-A657-B941ED9B0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944769"/>
              </p:ext>
            </p:extLst>
          </p:nvPr>
        </p:nvGraphicFramePr>
        <p:xfrm>
          <a:off x="321551" y="1861481"/>
          <a:ext cx="7962903" cy="2235200"/>
        </p:xfrm>
        <a:graphic>
          <a:graphicData uri="http://schemas.openxmlformats.org/drawingml/2006/table">
            <a:tbl>
              <a:tblPr/>
              <a:tblGrid>
                <a:gridCol w="826369">
                  <a:extLst>
                    <a:ext uri="{9D8B030D-6E8A-4147-A177-3AD203B41FA5}">
                      <a16:colId xmlns:a16="http://schemas.microsoft.com/office/drawing/2014/main" val="3291035539"/>
                    </a:ext>
                  </a:extLst>
                </a:gridCol>
                <a:gridCol w="1342453">
                  <a:extLst>
                    <a:ext uri="{9D8B030D-6E8A-4147-A177-3AD203B41FA5}">
                      <a16:colId xmlns:a16="http://schemas.microsoft.com/office/drawing/2014/main" val="3648063369"/>
                    </a:ext>
                  </a:extLst>
                </a:gridCol>
                <a:gridCol w="835867">
                  <a:extLst>
                    <a:ext uri="{9D8B030D-6E8A-4147-A177-3AD203B41FA5}">
                      <a16:colId xmlns:a16="http://schemas.microsoft.com/office/drawing/2014/main" val="1816520477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3186556865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4016513132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544464664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3086646922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1874065206"/>
                    </a:ext>
                  </a:extLst>
                </a:gridCol>
                <a:gridCol w="826369">
                  <a:extLst>
                    <a:ext uri="{9D8B030D-6E8A-4147-A177-3AD203B41FA5}">
                      <a16:colId xmlns:a16="http://schemas.microsoft.com/office/drawing/2014/main" val="29379027"/>
                    </a:ext>
                  </a:extLst>
                </a:gridCol>
              </a:tblGrid>
              <a:tr h="203200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Невыдача заказа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Model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Vectorizer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Accuracy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Precision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Recall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F1-Score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Macro F1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Time (s)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624593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TF-IDF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D4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D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1,71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608618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TF-IDF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C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BC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391,76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B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994757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Decision 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TF-IDF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3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F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3,59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8CD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76440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Word2Vec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D4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D4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A3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6,07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E1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848761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Word2Vec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2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388,10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B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364795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Decision 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Word2Vec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C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6,56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E5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340320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FastText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B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B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A2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7,25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58920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FastText</a:t>
                      </a:r>
                      <a:endParaRPr lang="en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383,57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B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428065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Decision 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FastText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7C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7,22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A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742855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BERT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0,87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3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980,00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055321"/>
                  </a:ext>
                </a:extLst>
              </a:tr>
            </a:tbl>
          </a:graphicData>
        </a:graphic>
      </p:graphicFrame>
      <p:sp>
        <p:nvSpPr>
          <p:cNvPr id="8" name="Текст 6">
            <a:extLst>
              <a:ext uri="{FF2B5EF4-FFF2-40B4-BE49-F238E27FC236}">
                <a16:creationId xmlns:a16="http://schemas.microsoft.com/office/drawing/2014/main" id="{8542F007-80A1-3C5E-2A83-555D4366F7E7}"/>
              </a:ext>
            </a:extLst>
          </p:cNvPr>
          <p:cNvSpPr txBox="1">
            <a:spLocks/>
          </p:cNvSpPr>
          <p:nvPr/>
        </p:nvSpPr>
        <p:spPr>
          <a:xfrm>
            <a:off x="321551" y="4477970"/>
            <a:ext cx="7962903" cy="1839125"/>
          </a:xfrm>
          <a:prstGeom prst="rect">
            <a:avLst/>
          </a:prstGeom>
        </p:spPr>
        <p:txBody>
          <a:bodyPr vert="horz" lIns="0" tIns="0" rIns="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>
                <a:latin typeface="+mn-lt"/>
              </a:rPr>
              <a:t>Выводы:</a:t>
            </a:r>
            <a:endParaRPr lang="ru-RU" sz="1600" dirty="0">
              <a:latin typeface="+mn-lt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latin typeface="+mn-lt"/>
              </a:rPr>
              <a:t>BERT </a:t>
            </a:r>
            <a:r>
              <a:rPr lang="ru-RU" sz="1600" dirty="0">
                <a:latin typeface="+mn-lt"/>
              </a:rPr>
              <a:t>лучше всех вариантов модель - </a:t>
            </a:r>
            <a:r>
              <a:rPr lang="ru-RU" sz="1600" dirty="0" err="1">
                <a:latin typeface="+mn-lt"/>
              </a:rPr>
              <a:t>векторайзер</a:t>
            </a:r>
            <a:endParaRPr lang="ru-RU" sz="1600" dirty="0">
              <a:latin typeface="+mn-lt"/>
            </a:endParaRPr>
          </a:p>
          <a:p>
            <a:pPr marL="285750" indent="-285750">
              <a:buFontTx/>
              <a:buChar char="-"/>
            </a:pPr>
            <a:r>
              <a:rPr lang="ru-RU" sz="1600" dirty="0">
                <a:latin typeface="+mn-lt"/>
              </a:rPr>
              <a:t>При сильном дисбалансе классов результат значительно хуже</a:t>
            </a:r>
          </a:p>
          <a:p>
            <a:pPr marL="285750" indent="-285750">
              <a:buFontTx/>
              <a:buChar char="-"/>
            </a:pPr>
            <a:endParaRPr lang="ru-RU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2029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00C4599-D949-6249-9062-C77D642165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МИЭМ им. А. Н. Тихонова </a:t>
            </a:r>
          </a:p>
          <a:p>
            <a:r>
              <a:rPr lang="ru-RU" dirty="0"/>
              <a:t>НИУ ВШЭ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61ED2D-36DC-AE46-9981-A638C91D8A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анализа текстовых отзывов клиентов с применением методов </a:t>
            </a:r>
            <a:r>
              <a:rPr lang="en-US" sz="1000" dirty="0">
                <a:effectLst/>
                <a:latin typeface="HSE Sans" panose="02000000000000000000"/>
                <a:ea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2072AC-9151-194C-B908-9F4F2D9B42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Дальнейшие шаги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D6A4FAF-EC6A-C648-997B-399BE9C4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Дальнейшие шаги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CC1D1D6-ED62-E74A-9164-8665C27429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79663"/>
            <a:ext cx="5510102" cy="2399371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Tx/>
              <a:buChar char="-"/>
            </a:pPr>
            <a:r>
              <a:rPr lang="ru-RU" sz="1800" dirty="0"/>
              <a:t>Внедрение </a:t>
            </a:r>
            <a:r>
              <a:rPr lang="ru-RU" sz="1800" dirty="0" err="1"/>
              <a:t>предобученной</a:t>
            </a:r>
            <a:r>
              <a:rPr lang="ru-RU" sz="1800" dirty="0"/>
              <a:t> модели </a:t>
            </a:r>
            <a:r>
              <a:rPr lang="en-US" sz="1800" dirty="0" err="1"/>
              <a:t>FastText</a:t>
            </a:r>
            <a:r>
              <a:rPr lang="en-US" sz="1800" dirty="0"/>
              <a:t> </a:t>
            </a:r>
          </a:p>
          <a:p>
            <a:pPr marL="285750" indent="-285750">
              <a:buFontTx/>
              <a:buChar char="-"/>
            </a:pPr>
            <a:r>
              <a:rPr lang="ru-RU" sz="1800" dirty="0"/>
              <a:t>Обучение </a:t>
            </a:r>
            <a:r>
              <a:rPr lang="en" sz="1800" dirty="0">
                <a:effectLst/>
              </a:rPr>
              <a:t>SVM</a:t>
            </a:r>
            <a:r>
              <a:rPr lang="ru-RU" sz="1800" dirty="0">
                <a:effectLst/>
              </a:rPr>
              <a:t> с другими ядрами</a:t>
            </a:r>
            <a:endParaRPr lang="en-US" sz="1800" dirty="0"/>
          </a:p>
          <a:p>
            <a:pPr marL="285750" indent="-285750">
              <a:buFontTx/>
              <a:buChar char="-"/>
            </a:pPr>
            <a:r>
              <a:rPr lang="ru-RU" sz="1800" dirty="0"/>
              <a:t>Изучить другие версии </a:t>
            </a:r>
            <a:r>
              <a:rPr lang="en-US" sz="1800" dirty="0"/>
              <a:t>Bert </a:t>
            </a:r>
            <a:r>
              <a:rPr lang="ru-RU" sz="1800" dirty="0"/>
              <a:t>для русского языка</a:t>
            </a:r>
          </a:p>
          <a:p>
            <a:pPr marL="285750" indent="-285750">
              <a:buFontTx/>
              <a:buChar char="-"/>
            </a:pPr>
            <a:r>
              <a:rPr lang="ru-RU" sz="1800" dirty="0"/>
              <a:t>Работа с дисбалансом классов</a:t>
            </a:r>
          </a:p>
          <a:p>
            <a:pPr marL="285750" indent="-285750">
              <a:buFontTx/>
              <a:buChar char="-"/>
            </a:pPr>
            <a:r>
              <a:rPr lang="ru-RU" sz="1800" dirty="0"/>
              <a:t>Исследование полученных результатов от </a:t>
            </a:r>
            <a:r>
              <a:rPr lang="ru-RU" sz="1800" dirty="0" err="1"/>
              <a:t>гео</a:t>
            </a:r>
            <a:r>
              <a:rPr lang="ru-RU" sz="1800" dirty="0"/>
              <a:t>-характеристик ПВЗ </a:t>
            </a:r>
          </a:p>
          <a:p>
            <a:pPr marL="285750" indent="-285750">
              <a:buFontTx/>
              <a:buChar char="-"/>
            </a:pPr>
            <a:r>
              <a:rPr lang="ru-RU" sz="1800" dirty="0"/>
              <a:t>Написание 2-й и 3-й главы ВКР</a:t>
            </a:r>
          </a:p>
        </p:txBody>
      </p:sp>
    </p:spTree>
    <p:extLst>
      <p:ext uri="{BB962C8B-B14F-4D97-AF65-F5344CB8AC3E}">
        <p14:creationId xmlns:p14="http://schemas.microsoft.com/office/powerpoint/2010/main" val="2385935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2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5922</TotalTime>
  <Words>3080</Words>
  <Application>Microsoft Macintosh PowerPoint</Application>
  <PresentationFormat>Широкоэкранный</PresentationFormat>
  <Paragraphs>883</Paragraphs>
  <Slides>24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Helvetica Neue</vt:lpstr>
      <vt:lpstr>HSE Sans</vt:lpstr>
      <vt:lpstr>quote-cjk-patch</vt:lpstr>
      <vt:lpstr>Times New Roman</vt:lpstr>
      <vt:lpstr>Office Theme</vt:lpstr>
      <vt:lpstr>Автоматизация анализа текстовых отзывов клиентов с применением методов NLP</vt:lpstr>
      <vt:lpstr>План</vt:lpstr>
      <vt:lpstr>Цель: разработка модели классификации тональности по тематическим аспектам текстовых отзывов </vt:lpstr>
      <vt:lpstr>Актуальность. Почему отзывы критичны для бизнеса?</vt:lpstr>
      <vt:lpstr>Обзор существующих решений на рынке</vt:lpstr>
      <vt:lpstr>Презентация PowerPoint</vt:lpstr>
      <vt:lpstr>Задачи NLP в анализе отзывов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Разметка данных</vt:lpstr>
      <vt:lpstr>Разметка данных</vt:lpstr>
      <vt:lpstr>Разметка данных</vt:lpstr>
      <vt:lpstr>Инициализация моделей: параметры</vt:lpstr>
      <vt:lpstr>Результаты обучения моделей</vt:lpstr>
      <vt:lpstr>Результаты обучения моделей</vt:lpstr>
      <vt:lpstr>Результаты обучения моделей</vt:lpstr>
      <vt:lpstr>Дальнейшие шаги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Качалина Екатерина Александровна</cp:lastModifiedBy>
  <cp:revision>28</cp:revision>
  <cp:lastPrinted>2021-11-11T13:08:42Z</cp:lastPrinted>
  <dcterms:created xsi:type="dcterms:W3CDTF">2021-11-11T08:52:47Z</dcterms:created>
  <dcterms:modified xsi:type="dcterms:W3CDTF">2026-04-11T18:04:12Z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